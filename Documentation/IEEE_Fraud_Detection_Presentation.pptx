
<file path=[Content_Types].xml><?xml version="1.0" encoding="utf-8"?>
<Types xmlns="http://schemas.openxmlformats.org/package/2006/content-types">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70" r:id="rId14"/>
    <p:sldId id="271"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0" d="100"/>
          <a:sy n="90" d="100"/>
        </p:scale>
        <p:origin x="60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ROC-AUC</c:v>
                </c:pt>
              </c:strCache>
            </c:strRef>
          </c:tx>
          <c:spPr>
            <a:solidFill>
              <a:srgbClr val="6D9BB8"/>
            </a:solidFill>
            <a:effectLst/>
          </c:spPr>
          <c:invertIfNegative val="0"/>
          <c:dPt>
            <c:idx val="0"/>
            <c:invertIfNegative val="0"/>
            <c:bubble3D val="0"/>
            <c:extLst>
              <c:ext xmlns:c16="http://schemas.microsoft.com/office/drawing/2014/chart" uri="{C3380CC4-5D6E-409C-BE32-E72D297353CC}">
                <c16:uniqueId val="{00000001-D421-46EB-BDCC-9EE87AFDB27A}"/>
              </c:ext>
            </c:extLst>
          </c:dPt>
          <c:dPt>
            <c:idx val="1"/>
            <c:invertIfNegative val="0"/>
            <c:bubble3D val="0"/>
            <c:spPr>
              <a:solidFill>
                <a:srgbClr val="4A7C99"/>
              </a:solidFill>
              <a:effectLst/>
            </c:spPr>
            <c:extLst>
              <c:ext xmlns:c16="http://schemas.microsoft.com/office/drawing/2014/chart" uri="{C3380CC4-5D6E-409C-BE32-E72D297353CC}">
                <c16:uniqueId val="{00000003-D421-46EB-BDCC-9EE87AFDB27A}"/>
              </c:ext>
            </c:extLst>
          </c:dPt>
          <c:dPt>
            <c:idx val="2"/>
            <c:invertIfNegative val="0"/>
            <c:bubble3D val="0"/>
            <c:spPr>
              <a:solidFill>
                <a:srgbClr val="52796F"/>
              </a:solidFill>
              <a:effectLst/>
            </c:spPr>
            <c:extLst>
              <c:ext xmlns:c16="http://schemas.microsoft.com/office/drawing/2014/chart" uri="{C3380CC4-5D6E-409C-BE32-E72D297353CC}">
                <c16:uniqueId val="{00000005-D421-46EB-BDCC-9EE87AFDB27A}"/>
              </c:ext>
            </c:extLst>
          </c:dPt>
          <c:dPt>
            <c:idx val="3"/>
            <c:invertIfNegative val="0"/>
            <c:bubble3D val="0"/>
            <c:spPr>
              <a:solidFill>
                <a:srgbClr val="2E5266"/>
              </a:solidFill>
              <a:effectLst/>
            </c:spPr>
            <c:extLst>
              <c:ext xmlns:c16="http://schemas.microsoft.com/office/drawing/2014/chart" uri="{C3380CC4-5D6E-409C-BE32-E72D297353CC}">
                <c16:uniqueId val="{00000007-D421-46EB-BDCC-9EE87AFDB27A}"/>
              </c:ext>
            </c:extLst>
          </c:dPt>
          <c:cat>
            <c:strRef>
              <c:f>Sheet1!$A$2:$A$5</c:f>
              <c:strCache>
                <c:ptCount val="4"/>
                <c:pt idx="0">
                  <c:v>Logistic
Regression</c:v>
                </c:pt>
                <c:pt idx="1">
                  <c:v>Random
Forest</c:v>
                </c:pt>
                <c:pt idx="2">
                  <c:v>XGBoost</c:v>
                </c:pt>
                <c:pt idx="3">
                  <c:v>LightGBM</c:v>
                </c:pt>
              </c:strCache>
            </c:strRef>
          </c:cat>
          <c:val>
            <c:numRef>
              <c:f>Sheet1!$B$2:$B$5</c:f>
              <c:numCache>
                <c:formatCode>General</c:formatCode>
                <c:ptCount val="4"/>
                <c:pt idx="0">
                  <c:v>0.8327</c:v>
                </c:pt>
                <c:pt idx="1">
                  <c:v>0.89759999999999995</c:v>
                </c:pt>
                <c:pt idx="2">
                  <c:v>0.90620000000000001</c:v>
                </c:pt>
                <c:pt idx="3">
                  <c:v>0.9042</c:v>
                </c:pt>
              </c:numCache>
            </c:numRef>
          </c:val>
          <c:extLst>
            <c:ext xmlns:c16="http://schemas.microsoft.com/office/drawing/2014/chart" uri="{C3380CC4-5D6E-409C-BE32-E72D297353CC}">
              <c16:uniqueId val="{00000008-D421-46EB-BDCC-9EE87AFDB27A}"/>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Calibri"/>
              </a:defRPr>
            </a:pPr>
            <a:endParaRPr lang="en-US"/>
          </a:p>
        </c:txPr>
        <c:crossAx val="2094734552"/>
        <c:crosses val="autoZero"/>
        <c:auto val="1"/>
        <c:lblAlgn val="ctr"/>
        <c:lblOffset val="100"/>
        <c:noMultiLvlLbl val="1"/>
      </c:catAx>
      <c:valAx>
        <c:axId val="2094734552"/>
        <c:scaling>
          <c:orientation val="minMax"/>
          <c:max val="1"/>
          <c:min val="0.8"/>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8116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2"/>
        </a:solidFill>
        <a:effectLst/>
      </p:bgPr>
    </p:bg>
    <p:spTree>
      <p:nvGrpSpPr>
        <p:cNvPr id="1" name=""/>
        <p:cNvGrpSpPr/>
        <p:nvPr/>
      </p:nvGrpSpPr>
      <p:grpSpPr>
        <a:xfrm>
          <a:off x="0" y="0"/>
          <a:ext cx="0" cy="0"/>
          <a:chOff x="0" y="0"/>
          <a:chExt cx="0" cy="0"/>
        </a:xfrm>
      </p:grpSpPr>
      <p:sp>
        <p:nvSpPr>
          <p:cNvPr id="2" name="Text 0"/>
          <p:cNvSpPr/>
          <p:nvPr/>
        </p:nvSpPr>
        <p:spPr>
          <a:xfrm>
            <a:off x="914400" y="1828800"/>
            <a:ext cx="7315200" cy="640080"/>
          </a:xfrm>
          <a:prstGeom prst="rect">
            <a:avLst/>
          </a:prstGeom>
          <a:noFill/>
          <a:ln/>
        </p:spPr>
        <p:txBody>
          <a:bodyPr wrap="square" rtlCol="0" anchor="ctr"/>
          <a:lstStyle/>
          <a:p>
            <a:pPr marL="0" indent="0" algn="ctr">
              <a:buNone/>
            </a:pPr>
            <a:r>
              <a:rPr lang="en-US" sz="4800" b="1" dirty="0" smtClean="0">
                <a:solidFill>
                  <a:srgbClr val="FFFFFF"/>
                </a:solidFill>
                <a:latin typeface="Calibri" pitchFamily="34" charset="0"/>
                <a:ea typeface="Calibri" pitchFamily="34" charset="-122"/>
                <a:cs typeface="Calibri" pitchFamily="34" charset="-120"/>
              </a:rPr>
              <a:t>Fraud Detection in Finance</a:t>
            </a:r>
            <a:endParaRPr lang="en-US" sz="4800" dirty="0"/>
          </a:p>
        </p:txBody>
      </p:sp>
      <p:sp>
        <p:nvSpPr>
          <p:cNvPr id="3" name="Text 1"/>
          <p:cNvSpPr/>
          <p:nvPr/>
        </p:nvSpPr>
        <p:spPr>
          <a:xfrm>
            <a:off x="914400" y="2560320"/>
            <a:ext cx="7315200" cy="365760"/>
          </a:xfrm>
          <a:prstGeom prst="rect">
            <a:avLst/>
          </a:prstGeom>
          <a:noFill/>
          <a:ln/>
        </p:spPr>
        <p:txBody>
          <a:bodyPr wrap="square" rtlCol="0" anchor="ctr"/>
          <a:lstStyle/>
          <a:p>
            <a:pPr marL="0" indent="0" algn="ctr">
              <a:buNone/>
            </a:pPr>
            <a:r>
              <a:rPr lang="en-US" sz="2200" dirty="0" smtClean="0">
                <a:solidFill>
                  <a:srgbClr val="D5E1ED"/>
                </a:solidFill>
                <a:latin typeface="Calibri" pitchFamily="34" charset="0"/>
                <a:ea typeface="Calibri" pitchFamily="34" charset="-122"/>
                <a:cs typeface="Calibri" pitchFamily="34" charset="-120"/>
              </a:rPr>
              <a:t>Semester Project</a:t>
            </a:r>
            <a:endParaRPr lang="en-US" sz="2200" dirty="0"/>
          </a:p>
        </p:txBody>
      </p:sp>
      <p:sp>
        <p:nvSpPr>
          <p:cNvPr id="4" name="Shape 2"/>
          <p:cNvSpPr/>
          <p:nvPr/>
        </p:nvSpPr>
        <p:spPr>
          <a:xfrm>
            <a:off x="3657600" y="3108960"/>
            <a:ext cx="1828800" cy="27432"/>
          </a:xfrm>
          <a:prstGeom prst="rect">
            <a:avLst/>
          </a:prstGeom>
          <a:solidFill>
            <a:srgbClr val="52796F"/>
          </a:solidFill>
          <a:ln/>
        </p:spPr>
      </p:sp>
      <p:sp>
        <p:nvSpPr>
          <p:cNvPr id="5" name="Text 3"/>
          <p:cNvSpPr/>
          <p:nvPr/>
        </p:nvSpPr>
        <p:spPr>
          <a:xfrm>
            <a:off x="1928037" y="4513591"/>
            <a:ext cx="7116725" cy="414103"/>
          </a:xfrm>
          <a:prstGeom prst="rect">
            <a:avLst/>
          </a:prstGeom>
          <a:noFill/>
          <a:ln/>
        </p:spPr>
        <p:txBody>
          <a:bodyPr wrap="square" rtlCol="0" anchor="ctr"/>
          <a:lstStyle/>
          <a:p>
            <a:pPr marL="0" indent="0" algn="r">
              <a:buNone/>
            </a:pPr>
            <a:r>
              <a:rPr lang="en-US" sz="1800" dirty="0" smtClean="0">
                <a:solidFill>
                  <a:srgbClr val="D5E1ED"/>
                </a:solidFill>
                <a:latin typeface="Calibri" pitchFamily="34" charset="0"/>
                <a:ea typeface="Calibri" pitchFamily="34" charset="-122"/>
                <a:cs typeface="Calibri" pitchFamily="34" charset="-120"/>
              </a:rPr>
              <a:t>Authors:</a:t>
            </a:r>
          </a:p>
          <a:p>
            <a:pPr marL="0" indent="0" algn="r">
              <a:buNone/>
            </a:pPr>
            <a:r>
              <a:rPr lang="en-US" sz="1800" dirty="0" smtClean="0">
                <a:solidFill>
                  <a:srgbClr val="D5E1ED"/>
                </a:solidFill>
                <a:latin typeface="Calibri" pitchFamily="34" charset="0"/>
                <a:ea typeface="Calibri" pitchFamily="34" charset="-122"/>
                <a:cs typeface="Calibri" pitchFamily="34" charset="-120"/>
              </a:rPr>
              <a:t>            Jay </a:t>
            </a:r>
            <a:r>
              <a:rPr lang="en-US" sz="1800" dirty="0" err="1" smtClean="0">
                <a:solidFill>
                  <a:srgbClr val="D5E1ED"/>
                </a:solidFill>
                <a:latin typeface="Calibri" pitchFamily="34" charset="0"/>
                <a:ea typeface="Calibri" pitchFamily="34" charset="-122"/>
                <a:cs typeface="Calibri" pitchFamily="34" charset="-120"/>
              </a:rPr>
              <a:t>Bhuva</a:t>
            </a:r>
            <a:r>
              <a:rPr lang="en-US" sz="1800" dirty="0" smtClean="0">
                <a:solidFill>
                  <a:srgbClr val="D5E1ED"/>
                </a:solidFill>
                <a:latin typeface="Calibri" pitchFamily="34" charset="0"/>
                <a:ea typeface="Calibri" pitchFamily="34" charset="-122"/>
                <a:cs typeface="Calibri" pitchFamily="34" charset="-120"/>
              </a:rPr>
              <a:t> </a:t>
            </a:r>
          </a:p>
          <a:p>
            <a:pPr marL="0" indent="0" algn="r">
              <a:buNone/>
            </a:pPr>
            <a:r>
              <a:rPr lang="en-US" sz="1800" dirty="0" err="1" smtClean="0">
                <a:solidFill>
                  <a:srgbClr val="D5E1ED"/>
                </a:solidFill>
                <a:latin typeface="Calibri" pitchFamily="34" charset="0"/>
                <a:ea typeface="Calibri" pitchFamily="34" charset="-122"/>
                <a:cs typeface="Calibri" pitchFamily="34" charset="-120"/>
              </a:rPr>
              <a:t>Prajakta</a:t>
            </a:r>
            <a:r>
              <a:rPr lang="en-US" sz="1800" dirty="0" smtClean="0">
                <a:solidFill>
                  <a:srgbClr val="D5E1ED"/>
                </a:solidFill>
                <a:latin typeface="Calibri" pitchFamily="34" charset="0"/>
                <a:ea typeface="Calibri" pitchFamily="34" charset="-122"/>
                <a:cs typeface="Calibri" pitchFamily="34" charset="-120"/>
              </a:rPr>
              <a:t> </a:t>
            </a:r>
            <a:r>
              <a:rPr lang="en-US" sz="1800" dirty="0" err="1" smtClean="0">
                <a:solidFill>
                  <a:srgbClr val="D5E1ED"/>
                </a:solidFill>
                <a:latin typeface="Calibri" pitchFamily="34" charset="0"/>
                <a:ea typeface="Calibri" pitchFamily="34" charset="-122"/>
                <a:cs typeface="Calibri" pitchFamily="34" charset="-120"/>
              </a:rPr>
              <a:t>Avachat</a:t>
            </a:r>
            <a:r>
              <a:rPr lang="en-US" sz="1800" dirty="0" smtClean="0">
                <a:solidFill>
                  <a:srgbClr val="D5E1ED"/>
                </a:solidFill>
                <a:latin typeface="Calibri" pitchFamily="34" charset="0"/>
                <a:ea typeface="Calibri" pitchFamily="34" charset="-122"/>
                <a:cs typeface="Calibri" pitchFamily="34" charset="-120"/>
              </a:rPr>
              <a:t> </a:t>
            </a:r>
          </a:p>
          <a:p>
            <a:pPr marL="0" indent="0" algn="r">
              <a:buNone/>
            </a:pPr>
            <a:r>
              <a:rPr lang="en-US" dirty="0">
                <a:solidFill>
                  <a:srgbClr val="D5E1ED"/>
                </a:solidFill>
                <a:latin typeface="Calibri" pitchFamily="34" charset="0"/>
                <a:ea typeface="Calibri" pitchFamily="34" charset="-122"/>
                <a:cs typeface="Calibri" pitchFamily="34" charset="-120"/>
              </a:rPr>
              <a:t>	 </a:t>
            </a:r>
            <a:endParaRPr lang="en-US" sz="1800" dirty="0"/>
          </a:p>
        </p:txBody>
      </p:sp>
      <p:sp>
        <p:nvSpPr>
          <p:cNvPr id="6" name="Text 4"/>
          <p:cNvSpPr/>
          <p:nvPr/>
        </p:nvSpPr>
        <p:spPr>
          <a:xfrm>
            <a:off x="786809" y="1502452"/>
            <a:ext cx="7315200" cy="274320"/>
          </a:xfrm>
          <a:prstGeom prst="rect">
            <a:avLst/>
          </a:prstGeom>
          <a:noFill/>
          <a:ln/>
        </p:spPr>
        <p:txBody>
          <a:bodyPr wrap="square" rtlCol="0" anchor="ctr"/>
          <a:lstStyle/>
          <a:p>
            <a:pPr marL="0" indent="0" algn="ctr">
              <a:buNone/>
            </a:pPr>
            <a:r>
              <a:rPr lang="en-US" sz="1600" dirty="0">
                <a:solidFill>
                  <a:srgbClr val="B0C4DE"/>
                </a:solidFill>
                <a:latin typeface="Calibri" pitchFamily="34" charset="0"/>
                <a:ea typeface="Calibri" pitchFamily="34" charset="-122"/>
                <a:cs typeface="Calibri" pitchFamily="34" charset="-120"/>
              </a:rPr>
              <a:t>DS 5110 </a:t>
            </a:r>
            <a:r>
              <a:rPr lang="en-US" sz="1600" dirty="0" smtClean="0">
                <a:solidFill>
                  <a:srgbClr val="B0C4DE"/>
                </a:solidFill>
                <a:latin typeface="Calibri" pitchFamily="34" charset="0"/>
                <a:ea typeface="Calibri" pitchFamily="34" charset="-122"/>
                <a:cs typeface="Calibri" pitchFamily="34" charset="-120"/>
              </a:rPr>
              <a:t>Essentials of Data Science</a:t>
            </a:r>
            <a:endParaRPr lang="en-US" sz="16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5F7FA"/>
          </a:solidFill>
          <a:ln/>
        </p:spPr>
      </p:sp>
      <p:sp>
        <p:nvSpPr>
          <p:cNvPr id="3" name="Text 1"/>
          <p:cNvSpPr/>
          <p:nvPr/>
        </p:nvSpPr>
        <p:spPr>
          <a:xfrm>
            <a:off x="548640" y="182880"/>
            <a:ext cx="8046720" cy="320040"/>
          </a:xfrm>
          <a:prstGeom prst="rect">
            <a:avLst/>
          </a:prstGeom>
          <a:noFill/>
          <a:ln/>
        </p:spPr>
        <p:txBody>
          <a:bodyPr wrap="square" rtlCol="0" anchor="ctr"/>
          <a:lstStyle/>
          <a:p>
            <a:pPr marL="0" indent="0">
              <a:buNone/>
            </a:pPr>
            <a:r>
              <a:rPr lang="en-US" sz="3600" b="1" dirty="0">
                <a:solidFill>
                  <a:srgbClr val="1A3A52"/>
                </a:solidFill>
                <a:latin typeface="Calibri" pitchFamily="34" charset="0"/>
                <a:ea typeface="Calibri" pitchFamily="34" charset="-122"/>
                <a:cs typeface="Calibri" pitchFamily="34" charset="-120"/>
              </a:rPr>
              <a:t>Introduction</a:t>
            </a:r>
            <a:endParaRPr lang="en-US" sz="3600" dirty="0"/>
          </a:p>
        </p:txBody>
      </p:sp>
      <p:sp>
        <p:nvSpPr>
          <p:cNvPr id="4" name="Text 2"/>
          <p:cNvSpPr/>
          <p:nvPr/>
        </p:nvSpPr>
        <p:spPr>
          <a:xfrm>
            <a:off x="731520" y="905256"/>
            <a:ext cx="7680960" cy="274320"/>
          </a:xfrm>
          <a:prstGeom prst="rect">
            <a:avLst/>
          </a:prstGeom>
          <a:noFill/>
          <a:ln/>
        </p:spPr>
        <p:txBody>
          <a:bodyPr wrap="square" rtlCol="0" anchor="ctr"/>
          <a:lstStyle/>
          <a:p>
            <a:pPr marL="0" indent="0">
              <a:buNone/>
            </a:pPr>
            <a:r>
              <a:rPr lang="en-US" sz="1800" b="1" dirty="0">
                <a:solidFill>
                  <a:srgbClr val="1A3A52"/>
                </a:solidFill>
                <a:latin typeface="Calibri" pitchFamily="34" charset="0"/>
                <a:ea typeface="Calibri" pitchFamily="34" charset="-122"/>
                <a:cs typeface="Calibri" pitchFamily="34" charset="-120"/>
              </a:rPr>
              <a:t>Background</a:t>
            </a:r>
            <a:endParaRPr lang="en-US" sz="1800" dirty="0"/>
          </a:p>
        </p:txBody>
      </p:sp>
      <p:sp>
        <p:nvSpPr>
          <p:cNvPr id="5" name="Text 3"/>
          <p:cNvSpPr/>
          <p:nvPr/>
        </p:nvSpPr>
        <p:spPr>
          <a:xfrm>
            <a:off x="731520" y="1325880"/>
            <a:ext cx="7680960" cy="548640"/>
          </a:xfrm>
          <a:prstGeom prst="rect">
            <a:avLst/>
          </a:prstGeom>
          <a:noFill/>
          <a:ln/>
        </p:spPr>
        <p:txBody>
          <a:bodyPr wrap="square" rtlCol="0" anchor="ctr"/>
          <a:lstStyle/>
          <a:p>
            <a:pPr marL="0" indent="0">
              <a:buNone/>
            </a:pPr>
            <a:r>
              <a:rPr lang="en-US" sz="1400" dirty="0">
                <a:solidFill>
                  <a:srgbClr val="546E7A"/>
                </a:solidFill>
                <a:latin typeface="Calibri" pitchFamily="34" charset="0"/>
                <a:ea typeface="Calibri" pitchFamily="34" charset="-122"/>
                <a:cs typeface="Calibri" pitchFamily="34" charset="-120"/>
              </a:rPr>
              <a:t>E-commerce fraud represents billions in annual losses globally. The IEEE Computational Intelligence Society partnered with Vesta Corporation to advance fraud detection through machine learning, addressing the critical need for accurate, scalable systems that minimize both fraud losses and customer friction.</a:t>
            </a:r>
            <a:endParaRPr lang="en-US" sz="1400" dirty="0"/>
          </a:p>
        </p:txBody>
      </p:sp>
      <p:sp>
        <p:nvSpPr>
          <p:cNvPr id="6" name="Shape 4"/>
          <p:cNvSpPr/>
          <p:nvPr/>
        </p:nvSpPr>
        <p:spPr>
          <a:xfrm>
            <a:off x="822960" y="2112831"/>
            <a:ext cx="7680960" cy="731520"/>
          </a:xfrm>
          <a:prstGeom prst="rect">
            <a:avLst/>
          </a:prstGeom>
          <a:solidFill>
            <a:srgbClr val="FFF8E7"/>
          </a:solidFill>
          <a:ln w="25400">
            <a:solidFill>
              <a:srgbClr val="D4A574"/>
            </a:solidFill>
            <a:prstDash val="solid"/>
          </a:ln>
        </p:spPr>
      </p:sp>
      <p:sp>
        <p:nvSpPr>
          <p:cNvPr id="7" name="Text 5"/>
          <p:cNvSpPr/>
          <p:nvPr/>
        </p:nvSpPr>
        <p:spPr>
          <a:xfrm>
            <a:off x="914400" y="2174075"/>
            <a:ext cx="7315200" cy="201168"/>
          </a:xfrm>
          <a:prstGeom prst="rect">
            <a:avLst/>
          </a:prstGeom>
          <a:noFill/>
          <a:ln/>
        </p:spPr>
        <p:txBody>
          <a:bodyPr wrap="square" rtlCol="0" anchor="ctr"/>
          <a:lstStyle/>
          <a:p>
            <a:pPr marL="0" indent="0">
              <a:buNone/>
            </a:pPr>
            <a:r>
              <a:rPr lang="en-US" sz="1600" b="1" dirty="0">
                <a:solidFill>
                  <a:srgbClr val="8B6F47"/>
                </a:solidFill>
                <a:latin typeface="Calibri" pitchFamily="34" charset="0"/>
                <a:ea typeface="Calibri" pitchFamily="34" charset="-122"/>
                <a:cs typeface="Calibri" pitchFamily="34" charset="-120"/>
              </a:rPr>
              <a:t>Problem Statement</a:t>
            </a:r>
            <a:endParaRPr lang="en-US" sz="1600" dirty="0"/>
          </a:p>
        </p:txBody>
      </p:sp>
      <p:sp>
        <p:nvSpPr>
          <p:cNvPr id="8" name="Text 6"/>
          <p:cNvSpPr/>
          <p:nvPr/>
        </p:nvSpPr>
        <p:spPr>
          <a:xfrm>
            <a:off x="914400" y="2466683"/>
            <a:ext cx="7315200" cy="274320"/>
          </a:xfrm>
          <a:prstGeom prst="rect">
            <a:avLst/>
          </a:prstGeom>
          <a:noFill/>
          <a:ln/>
        </p:spPr>
        <p:txBody>
          <a:bodyPr wrap="square" rtlCol="0" anchor="ctr"/>
          <a:lstStyle/>
          <a:p>
            <a:pPr marL="0" indent="0">
              <a:buNone/>
            </a:pPr>
            <a:r>
              <a:rPr lang="en-US" sz="1300" dirty="0">
                <a:solidFill>
                  <a:srgbClr val="8B6F47"/>
                </a:solidFill>
                <a:latin typeface="Calibri" pitchFamily="34" charset="0"/>
                <a:ea typeface="Calibri" pitchFamily="34" charset="-122"/>
                <a:cs typeface="Calibri" pitchFamily="34" charset="-120"/>
              </a:rPr>
              <a:t>False positives disrupt legitimate transactions and harm customer experience. False negatives allow fraud to proceed, causing financial losses. Need for systems that optimize both.</a:t>
            </a:r>
            <a:endParaRPr lang="en-US" sz="1300" dirty="0"/>
          </a:p>
        </p:txBody>
      </p:sp>
      <p:sp>
        <p:nvSpPr>
          <p:cNvPr id="9" name="Text 7"/>
          <p:cNvSpPr/>
          <p:nvPr/>
        </p:nvSpPr>
        <p:spPr>
          <a:xfrm>
            <a:off x="731520" y="2926080"/>
            <a:ext cx="7680960" cy="274320"/>
          </a:xfrm>
          <a:prstGeom prst="rect">
            <a:avLst/>
          </a:prstGeom>
          <a:noFill/>
          <a:ln/>
        </p:spPr>
        <p:txBody>
          <a:bodyPr wrap="square" rtlCol="0" anchor="ctr"/>
          <a:lstStyle/>
          <a:p>
            <a:pPr marL="0" indent="0">
              <a:buNone/>
            </a:pPr>
            <a:r>
              <a:rPr lang="en-US" sz="1800" b="1" dirty="0">
                <a:solidFill>
                  <a:srgbClr val="1A3A52"/>
                </a:solidFill>
                <a:latin typeface="Calibri" pitchFamily="34" charset="0"/>
                <a:ea typeface="Calibri" pitchFamily="34" charset="-122"/>
                <a:cs typeface="Calibri" pitchFamily="34" charset="-120"/>
              </a:rPr>
              <a:t>Project Objectives</a:t>
            </a:r>
            <a:endParaRPr lang="en-US" sz="1800" dirty="0"/>
          </a:p>
        </p:txBody>
      </p:sp>
      <p:sp>
        <p:nvSpPr>
          <p:cNvPr id="10" name="Text 8"/>
          <p:cNvSpPr/>
          <p:nvPr/>
        </p:nvSpPr>
        <p:spPr>
          <a:xfrm>
            <a:off x="914400" y="3291840"/>
            <a:ext cx="7315200" cy="219456"/>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  Develop robust ML models to distinguish fraudulent from legitimate transactions</a:t>
            </a:r>
            <a:endParaRPr lang="en-US" sz="1300" dirty="0"/>
          </a:p>
        </p:txBody>
      </p:sp>
      <p:sp>
        <p:nvSpPr>
          <p:cNvPr id="11" name="Text 9"/>
          <p:cNvSpPr/>
          <p:nvPr/>
        </p:nvSpPr>
        <p:spPr>
          <a:xfrm>
            <a:off x="914400" y="3538728"/>
            <a:ext cx="7315200" cy="219456"/>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  Achieve high predictive accuracy (ROC-AUC &gt;0.90) with balanced precision and recall</a:t>
            </a:r>
            <a:endParaRPr lang="en-US" sz="1300" dirty="0"/>
          </a:p>
        </p:txBody>
      </p:sp>
      <p:sp>
        <p:nvSpPr>
          <p:cNvPr id="12" name="Text 10"/>
          <p:cNvSpPr/>
          <p:nvPr/>
        </p:nvSpPr>
        <p:spPr>
          <a:xfrm>
            <a:off x="914400" y="3785616"/>
            <a:ext cx="7315200" cy="219456"/>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  Implement comprehensive preprocessing and feature engineering pipelines</a:t>
            </a:r>
            <a:endParaRPr lang="en-US" sz="1300" dirty="0"/>
          </a:p>
        </p:txBody>
      </p:sp>
      <p:sp>
        <p:nvSpPr>
          <p:cNvPr id="13" name="Text 11"/>
          <p:cNvSpPr/>
          <p:nvPr/>
        </p:nvSpPr>
        <p:spPr>
          <a:xfrm>
            <a:off x="914400" y="4032504"/>
            <a:ext cx="7315200" cy="219456"/>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  Create SQL-based analytics infrastructure for ongoing monitoring</a:t>
            </a:r>
            <a:endParaRPr lang="en-US" sz="1300" dirty="0"/>
          </a:p>
        </p:txBody>
      </p:sp>
      <p:sp>
        <p:nvSpPr>
          <p:cNvPr id="14" name="Text 12"/>
          <p:cNvSpPr/>
          <p:nvPr/>
        </p:nvSpPr>
        <p:spPr>
          <a:xfrm>
            <a:off x="914400" y="4279392"/>
            <a:ext cx="7315200" cy="219456"/>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  Provide actionable insights through model evaluation and feature analysis</a:t>
            </a:r>
            <a:endParaRPr lang="en-US" sz="13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5F7FA"/>
          </a:solidFill>
          <a:ln/>
        </p:spPr>
      </p:sp>
      <p:sp>
        <p:nvSpPr>
          <p:cNvPr id="3" name="Text 1"/>
          <p:cNvSpPr/>
          <p:nvPr/>
        </p:nvSpPr>
        <p:spPr>
          <a:xfrm>
            <a:off x="548640" y="182880"/>
            <a:ext cx="8046720" cy="320040"/>
          </a:xfrm>
          <a:prstGeom prst="rect">
            <a:avLst/>
          </a:prstGeom>
          <a:noFill/>
          <a:ln/>
        </p:spPr>
        <p:txBody>
          <a:bodyPr wrap="square" rtlCol="0" anchor="ctr"/>
          <a:lstStyle/>
          <a:p>
            <a:pPr marL="0" indent="0">
              <a:buNone/>
            </a:pPr>
            <a:r>
              <a:rPr lang="en-US" sz="3600" b="1" dirty="0">
                <a:solidFill>
                  <a:srgbClr val="1A3A52"/>
                </a:solidFill>
                <a:latin typeface="Calibri" pitchFamily="34" charset="0"/>
                <a:ea typeface="Calibri" pitchFamily="34" charset="-122"/>
                <a:cs typeface="Calibri" pitchFamily="34" charset="-120"/>
              </a:rPr>
              <a:t>Dataset Overview</a:t>
            </a:r>
            <a:endParaRPr lang="en-US" sz="3600" dirty="0"/>
          </a:p>
        </p:txBody>
      </p:sp>
      <p:sp>
        <p:nvSpPr>
          <p:cNvPr id="4" name="Text 2"/>
          <p:cNvSpPr/>
          <p:nvPr/>
        </p:nvSpPr>
        <p:spPr>
          <a:xfrm>
            <a:off x="731520" y="1005840"/>
            <a:ext cx="7680960" cy="457200"/>
          </a:xfrm>
          <a:prstGeom prst="rect">
            <a:avLst/>
          </a:prstGeom>
          <a:noFill/>
          <a:ln/>
        </p:spPr>
        <p:txBody>
          <a:bodyPr wrap="square" rtlCol="0" anchor="ctr"/>
          <a:lstStyle/>
          <a:p>
            <a:pPr marL="0" indent="0">
              <a:buNone/>
            </a:pPr>
            <a:r>
              <a:rPr lang="en-US" sz="1500" dirty="0">
                <a:solidFill>
                  <a:srgbClr val="546E7A"/>
                </a:solidFill>
                <a:latin typeface="Calibri" pitchFamily="34" charset="0"/>
                <a:ea typeface="Calibri" pitchFamily="34" charset="-122"/>
                <a:cs typeface="Calibri" pitchFamily="34" charset="-120"/>
              </a:rPr>
              <a:t>IEEE-CIS Fraud Detection dataset from Vesta Corporation containing real-world e-commerce transaction data with comprehensive behavioral and transactional patterns.</a:t>
            </a:r>
            <a:endParaRPr lang="en-US" sz="1500" dirty="0"/>
          </a:p>
        </p:txBody>
      </p:sp>
      <p:sp>
        <p:nvSpPr>
          <p:cNvPr id="5" name="Shape 3"/>
          <p:cNvSpPr/>
          <p:nvPr/>
        </p:nvSpPr>
        <p:spPr>
          <a:xfrm>
            <a:off x="914400" y="1737360"/>
            <a:ext cx="2194560" cy="1005840"/>
          </a:xfrm>
          <a:prstGeom prst="rect">
            <a:avLst/>
          </a:prstGeom>
          <a:solidFill>
            <a:srgbClr val="E8EFF5"/>
          </a:solidFill>
          <a:ln w="25400">
            <a:solidFill>
              <a:srgbClr val="4A7C99"/>
            </a:solidFill>
            <a:prstDash val="solid"/>
          </a:ln>
        </p:spPr>
      </p:sp>
      <p:sp>
        <p:nvSpPr>
          <p:cNvPr id="6" name="Text 4"/>
          <p:cNvSpPr/>
          <p:nvPr/>
        </p:nvSpPr>
        <p:spPr>
          <a:xfrm>
            <a:off x="914400" y="1874520"/>
            <a:ext cx="2194560" cy="365760"/>
          </a:xfrm>
          <a:prstGeom prst="rect">
            <a:avLst/>
          </a:prstGeom>
          <a:noFill/>
          <a:ln/>
        </p:spPr>
        <p:txBody>
          <a:bodyPr wrap="square" rtlCol="0" anchor="ctr"/>
          <a:lstStyle/>
          <a:p>
            <a:pPr marL="0" indent="0" algn="ctr">
              <a:buNone/>
            </a:pPr>
            <a:r>
              <a:rPr lang="en-US" sz="3200" b="1" dirty="0">
                <a:solidFill>
                  <a:srgbClr val="1A3A52"/>
                </a:solidFill>
                <a:latin typeface="Calibri" pitchFamily="34" charset="0"/>
                <a:ea typeface="Calibri" pitchFamily="34" charset="-122"/>
                <a:cs typeface="Calibri" pitchFamily="34" charset="-120"/>
              </a:rPr>
              <a:t>590,540</a:t>
            </a:r>
            <a:endParaRPr lang="en-US" sz="3200" dirty="0"/>
          </a:p>
        </p:txBody>
      </p:sp>
      <p:sp>
        <p:nvSpPr>
          <p:cNvPr id="7" name="Text 5"/>
          <p:cNvSpPr/>
          <p:nvPr/>
        </p:nvSpPr>
        <p:spPr>
          <a:xfrm>
            <a:off x="914400" y="2331720"/>
            <a:ext cx="2194560" cy="274320"/>
          </a:xfrm>
          <a:prstGeom prst="rect">
            <a:avLst/>
          </a:prstGeom>
          <a:noFill/>
          <a:ln/>
        </p:spPr>
        <p:txBody>
          <a:bodyPr wrap="square" rtlCol="0" anchor="ctr"/>
          <a:lstStyle/>
          <a:p>
            <a:pPr marL="0" indent="0" algn="ctr">
              <a:buNone/>
            </a:pPr>
            <a:r>
              <a:rPr lang="en-US" sz="1400" dirty="0">
                <a:solidFill>
                  <a:srgbClr val="546E7A"/>
                </a:solidFill>
                <a:latin typeface="Calibri" pitchFamily="34" charset="0"/>
                <a:ea typeface="Calibri" pitchFamily="34" charset="-122"/>
                <a:cs typeface="Calibri" pitchFamily="34" charset="-120"/>
              </a:rPr>
              <a:t>Total Transactions</a:t>
            </a:r>
            <a:endParaRPr lang="en-US" sz="1400" dirty="0"/>
          </a:p>
        </p:txBody>
      </p:sp>
      <p:sp>
        <p:nvSpPr>
          <p:cNvPr id="8" name="Shape 6"/>
          <p:cNvSpPr/>
          <p:nvPr/>
        </p:nvSpPr>
        <p:spPr>
          <a:xfrm>
            <a:off x="3474720" y="1737360"/>
            <a:ext cx="2194560" cy="1005840"/>
          </a:xfrm>
          <a:prstGeom prst="rect">
            <a:avLst/>
          </a:prstGeom>
          <a:solidFill>
            <a:srgbClr val="E8EFF5"/>
          </a:solidFill>
          <a:ln w="25400">
            <a:solidFill>
              <a:srgbClr val="4A7C99"/>
            </a:solidFill>
            <a:prstDash val="solid"/>
          </a:ln>
        </p:spPr>
      </p:sp>
      <p:sp>
        <p:nvSpPr>
          <p:cNvPr id="9" name="Text 7"/>
          <p:cNvSpPr/>
          <p:nvPr/>
        </p:nvSpPr>
        <p:spPr>
          <a:xfrm>
            <a:off x="3474720" y="1874520"/>
            <a:ext cx="2194560" cy="365760"/>
          </a:xfrm>
          <a:prstGeom prst="rect">
            <a:avLst/>
          </a:prstGeom>
          <a:noFill/>
          <a:ln/>
        </p:spPr>
        <p:txBody>
          <a:bodyPr wrap="square" rtlCol="0" anchor="ctr"/>
          <a:lstStyle/>
          <a:p>
            <a:pPr marL="0" indent="0" algn="ctr">
              <a:buNone/>
            </a:pPr>
            <a:r>
              <a:rPr lang="en-US" sz="3200" b="1" dirty="0">
                <a:solidFill>
                  <a:srgbClr val="1A3A52"/>
                </a:solidFill>
                <a:latin typeface="Calibri" pitchFamily="34" charset="0"/>
                <a:ea typeface="Calibri" pitchFamily="34" charset="-122"/>
                <a:cs typeface="Calibri" pitchFamily="34" charset="-120"/>
              </a:rPr>
              <a:t>434</a:t>
            </a:r>
            <a:endParaRPr lang="en-US" sz="3200" dirty="0"/>
          </a:p>
        </p:txBody>
      </p:sp>
      <p:sp>
        <p:nvSpPr>
          <p:cNvPr id="10" name="Text 8"/>
          <p:cNvSpPr/>
          <p:nvPr/>
        </p:nvSpPr>
        <p:spPr>
          <a:xfrm>
            <a:off x="3474720" y="2331720"/>
            <a:ext cx="2194560" cy="274320"/>
          </a:xfrm>
          <a:prstGeom prst="rect">
            <a:avLst/>
          </a:prstGeom>
          <a:noFill/>
          <a:ln/>
        </p:spPr>
        <p:txBody>
          <a:bodyPr wrap="square" rtlCol="0" anchor="ctr"/>
          <a:lstStyle/>
          <a:p>
            <a:pPr marL="0" indent="0" algn="ctr">
              <a:buNone/>
            </a:pPr>
            <a:r>
              <a:rPr lang="en-US" sz="1400" dirty="0">
                <a:solidFill>
                  <a:srgbClr val="546E7A"/>
                </a:solidFill>
                <a:latin typeface="Calibri" pitchFamily="34" charset="0"/>
                <a:ea typeface="Calibri" pitchFamily="34" charset="-122"/>
                <a:cs typeface="Calibri" pitchFamily="34" charset="-120"/>
              </a:rPr>
              <a:t>Features</a:t>
            </a:r>
            <a:endParaRPr lang="en-US" sz="1400" dirty="0"/>
          </a:p>
        </p:txBody>
      </p:sp>
      <p:sp>
        <p:nvSpPr>
          <p:cNvPr id="11" name="Shape 9"/>
          <p:cNvSpPr/>
          <p:nvPr/>
        </p:nvSpPr>
        <p:spPr>
          <a:xfrm>
            <a:off x="6035040" y="1737360"/>
            <a:ext cx="2194560" cy="1005840"/>
          </a:xfrm>
          <a:prstGeom prst="rect">
            <a:avLst/>
          </a:prstGeom>
          <a:solidFill>
            <a:srgbClr val="E8EFF5"/>
          </a:solidFill>
          <a:ln w="25400">
            <a:solidFill>
              <a:srgbClr val="4A7C99"/>
            </a:solidFill>
            <a:prstDash val="solid"/>
          </a:ln>
        </p:spPr>
      </p:sp>
      <p:sp>
        <p:nvSpPr>
          <p:cNvPr id="12" name="Text 10"/>
          <p:cNvSpPr/>
          <p:nvPr/>
        </p:nvSpPr>
        <p:spPr>
          <a:xfrm>
            <a:off x="6035040" y="1874520"/>
            <a:ext cx="2194560" cy="365760"/>
          </a:xfrm>
          <a:prstGeom prst="rect">
            <a:avLst/>
          </a:prstGeom>
          <a:noFill/>
          <a:ln/>
        </p:spPr>
        <p:txBody>
          <a:bodyPr wrap="square" rtlCol="0" anchor="ctr"/>
          <a:lstStyle/>
          <a:p>
            <a:pPr marL="0" indent="0" algn="ctr">
              <a:buNone/>
            </a:pPr>
            <a:r>
              <a:rPr lang="en-US" sz="3200" b="1" dirty="0">
                <a:solidFill>
                  <a:srgbClr val="1A3A52"/>
                </a:solidFill>
                <a:latin typeface="Calibri" pitchFamily="34" charset="0"/>
                <a:ea typeface="Calibri" pitchFamily="34" charset="-122"/>
                <a:cs typeface="Calibri" pitchFamily="34" charset="-120"/>
              </a:rPr>
              <a:t>6 Months</a:t>
            </a:r>
            <a:endParaRPr lang="en-US" sz="3200" dirty="0"/>
          </a:p>
        </p:txBody>
      </p:sp>
      <p:sp>
        <p:nvSpPr>
          <p:cNvPr id="13" name="Text 11"/>
          <p:cNvSpPr/>
          <p:nvPr/>
        </p:nvSpPr>
        <p:spPr>
          <a:xfrm>
            <a:off x="6035040" y="2331720"/>
            <a:ext cx="2194560" cy="274320"/>
          </a:xfrm>
          <a:prstGeom prst="rect">
            <a:avLst/>
          </a:prstGeom>
          <a:noFill/>
          <a:ln/>
        </p:spPr>
        <p:txBody>
          <a:bodyPr wrap="square" rtlCol="0" anchor="ctr"/>
          <a:lstStyle/>
          <a:p>
            <a:pPr marL="0" indent="0" algn="ctr">
              <a:buNone/>
            </a:pPr>
            <a:r>
              <a:rPr lang="en-US" sz="1400" dirty="0">
                <a:solidFill>
                  <a:srgbClr val="546E7A"/>
                </a:solidFill>
                <a:latin typeface="Calibri" pitchFamily="34" charset="0"/>
                <a:ea typeface="Calibri" pitchFamily="34" charset="-122"/>
                <a:cs typeface="Calibri" pitchFamily="34" charset="-120"/>
              </a:rPr>
              <a:t>Time Span</a:t>
            </a:r>
            <a:endParaRPr lang="en-US" sz="1400" dirty="0"/>
          </a:p>
        </p:txBody>
      </p:sp>
      <p:sp>
        <p:nvSpPr>
          <p:cNvPr id="14" name="Text 12"/>
          <p:cNvSpPr/>
          <p:nvPr/>
        </p:nvSpPr>
        <p:spPr>
          <a:xfrm>
            <a:off x="731520" y="3017520"/>
            <a:ext cx="7680960" cy="274320"/>
          </a:xfrm>
          <a:prstGeom prst="rect">
            <a:avLst/>
          </a:prstGeom>
          <a:noFill/>
          <a:ln/>
        </p:spPr>
        <p:txBody>
          <a:bodyPr wrap="square" rtlCol="0" anchor="ctr"/>
          <a:lstStyle/>
          <a:p>
            <a:pPr marL="0" indent="0">
              <a:buNone/>
            </a:pPr>
            <a:r>
              <a:rPr lang="en-US" sz="1800" b="1" dirty="0">
                <a:solidFill>
                  <a:srgbClr val="2C3E50"/>
                </a:solidFill>
                <a:latin typeface="Calibri" pitchFamily="34" charset="0"/>
                <a:ea typeface="Calibri" pitchFamily="34" charset="-122"/>
                <a:cs typeface="Calibri" pitchFamily="34" charset="-120"/>
              </a:rPr>
              <a:t>Feature Composition</a:t>
            </a:r>
            <a:endParaRPr lang="en-US" sz="1800" dirty="0"/>
          </a:p>
        </p:txBody>
      </p:sp>
      <p:sp>
        <p:nvSpPr>
          <p:cNvPr id="15" name="Shape 13"/>
          <p:cNvSpPr/>
          <p:nvPr/>
        </p:nvSpPr>
        <p:spPr>
          <a:xfrm>
            <a:off x="731520" y="3429000"/>
            <a:ext cx="3657600" cy="594360"/>
          </a:xfrm>
          <a:prstGeom prst="rect">
            <a:avLst/>
          </a:prstGeom>
          <a:solidFill>
            <a:srgbClr val="F5F7FA"/>
          </a:solidFill>
          <a:ln w="12700">
            <a:solidFill>
              <a:srgbClr val="6D9BB8"/>
            </a:solidFill>
            <a:prstDash val="solid"/>
          </a:ln>
        </p:spPr>
      </p:sp>
      <p:sp>
        <p:nvSpPr>
          <p:cNvPr id="16" name="Text 14"/>
          <p:cNvSpPr/>
          <p:nvPr/>
        </p:nvSpPr>
        <p:spPr>
          <a:xfrm>
            <a:off x="914400" y="3520440"/>
            <a:ext cx="3291840" cy="228600"/>
          </a:xfrm>
          <a:prstGeom prst="rect">
            <a:avLst/>
          </a:prstGeom>
          <a:noFill/>
          <a:ln/>
        </p:spPr>
        <p:txBody>
          <a:bodyPr wrap="square" rtlCol="0" anchor="ctr"/>
          <a:lstStyle/>
          <a:p>
            <a:pPr marL="0" indent="0">
              <a:buNone/>
            </a:pPr>
            <a:r>
              <a:rPr lang="en-US" sz="1500" b="1" dirty="0">
                <a:solidFill>
                  <a:srgbClr val="2C3E50"/>
                </a:solidFill>
                <a:latin typeface="Calibri" pitchFamily="34" charset="0"/>
                <a:ea typeface="Calibri" pitchFamily="34" charset="-122"/>
                <a:cs typeface="Calibri" pitchFamily="34" charset="-120"/>
              </a:rPr>
              <a:t>Transaction Features: 393</a:t>
            </a:r>
            <a:endParaRPr lang="en-US" sz="1500" dirty="0"/>
          </a:p>
        </p:txBody>
      </p:sp>
      <p:sp>
        <p:nvSpPr>
          <p:cNvPr id="17" name="Text 15"/>
          <p:cNvSpPr/>
          <p:nvPr/>
        </p:nvSpPr>
        <p:spPr>
          <a:xfrm>
            <a:off x="731520" y="3840481"/>
            <a:ext cx="3657600" cy="45719"/>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Amount, product code, card details, </a:t>
            </a:r>
            <a:r>
              <a:rPr lang="en-US" sz="1300" dirty="0" smtClean="0">
                <a:solidFill>
                  <a:srgbClr val="546E7A"/>
                </a:solidFill>
                <a:latin typeface="Calibri" pitchFamily="34" charset="0"/>
                <a:ea typeface="Calibri" pitchFamily="34" charset="-122"/>
                <a:cs typeface="Calibri" pitchFamily="34" charset="-120"/>
              </a:rPr>
              <a:t>temporal data</a:t>
            </a:r>
            <a:endParaRPr lang="en-US" sz="1300" dirty="0"/>
          </a:p>
        </p:txBody>
      </p:sp>
      <p:sp>
        <p:nvSpPr>
          <p:cNvPr id="18" name="Shape 16"/>
          <p:cNvSpPr/>
          <p:nvPr/>
        </p:nvSpPr>
        <p:spPr>
          <a:xfrm>
            <a:off x="4754880" y="3429000"/>
            <a:ext cx="3657600" cy="594360"/>
          </a:xfrm>
          <a:prstGeom prst="rect">
            <a:avLst/>
          </a:prstGeom>
          <a:solidFill>
            <a:srgbClr val="F5F7FA"/>
          </a:solidFill>
          <a:ln w="12700">
            <a:solidFill>
              <a:srgbClr val="6D9BB8"/>
            </a:solidFill>
            <a:prstDash val="solid"/>
          </a:ln>
        </p:spPr>
      </p:sp>
      <p:sp>
        <p:nvSpPr>
          <p:cNvPr id="19" name="Text 17"/>
          <p:cNvSpPr/>
          <p:nvPr/>
        </p:nvSpPr>
        <p:spPr>
          <a:xfrm>
            <a:off x="4937760" y="3520440"/>
            <a:ext cx="3291840" cy="228600"/>
          </a:xfrm>
          <a:prstGeom prst="rect">
            <a:avLst/>
          </a:prstGeom>
          <a:noFill/>
          <a:ln/>
        </p:spPr>
        <p:txBody>
          <a:bodyPr wrap="square" rtlCol="0" anchor="ctr"/>
          <a:lstStyle/>
          <a:p>
            <a:pPr marL="0" indent="0">
              <a:buNone/>
            </a:pPr>
            <a:r>
              <a:rPr lang="en-US" sz="1500" b="1" dirty="0">
                <a:solidFill>
                  <a:srgbClr val="2C3E50"/>
                </a:solidFill>
                <a:latin typeface="Calibri" pitchFamily="34" charset="0"/>
                <a:ea typeface="Calibri" pitchFamily="34" charset="-122"/>
                <a:cs typeface="Calibri" pitchFamily="34" charset="-120"/>
              </a:rPr>
              <a:t>Identity Features: 41</a:t>
            </a:r>
            <a:endParaRPr lang="en-US" sz="1500" dirty="0"/>
          </a:p>
        </p:txBody>
      </p:sp>
      <p:sp>
        <p:nvSpPr>
          <p:cNvPr id="20" name="Text 18"/>
          <p:cNvSpPr/>
          <p:nvPr/>
        </p:nvSpPr>
        <p:spPr>
          <a:xfrm>
            <a:off x="4820093" y="3863340"/>
            <a:ext cx="3775267" cy="45719"/>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Device characteristics, browser info, user patterns</a:t>
            </a:r>
            <a:endParaRPr lang="en-US" sz="1300" dirty="0"/>
          </a:p>
        </p:txBody>
      </p:sp>
      <p:sp>
        <p:nvSpPr>
          <p:cNvPr id="21" name="Shape 19"/>
          <p:cNvSpPr/>
          <p:nvPr/>
        </p:nvSpPr>
        <p:spPr>
          <a:xfrm>
            <a:off x="731520" y="4206240"/>
            <a:ext cx="7680960" cy="457200"/>
          </a:xfrm>
          <a:prstGeom prst="rect">
            <a:avLst/>
          </a:prstGeom>
          <a:solidFill>
            <a:srgbClr val="FFF8E7"/>
          </a:solidFill>
          <a:ln w="25400">
            <a:solidFill>
              <a:srgbClr val="D4A574"/>
            </a:solidFill>
            <a:prstDash val="solid"/>
          </a:ln>
        </p:spPr>
      </p:sp>
      <p:sp>
        <p:nvSpPr>
          <p:cNvPr id="22" name="Text 20"/>
          <p:cNvSpPr/>
          <p:nvPr/>
        </p:nvSpPr>
        <p:spPr>
          <a:xfrm>
            <a:off x="914400" y="4297680"/>
            <a:ext cx="7315200" cy="274320"/>
          </a:xfrm>
          <a:prstGeom prst="rect">
            <a:avLst/>
          </a:prstGeom>
          <a:noFill/>
          <a:ln/>
        </p:spPr>
        <p:txBody>
          <a:bodyPr wrap="square" rtlCol="0" anchor="ctr"/>
          <a:lstStyle/>
          <a:p>
            <a:pPr marL="0" indent="0" algn="ctr">
              <a:buNone/>
            </a:pPr>
            <a:r>
              <a:rPr lang="en-US" sz="1500" b="1" dirty="0">
                <a:solidFill>
                  <a:srgbClr val="8B6F47"/>
                </a:solidFill>
                <a:latin typeface="Calibri" pitchFamily="34" charset="0"/>
                <a:ea typeface="Calibri" pitchFamily="34" charset="-122"/>
                <a:cs typeface="Calibri" pitchFamily="34" charset="-120"/>
              </a:rPr>
              <a:t>Challenge: Severe Class Imbalance — 96.5% Legitimate vs 3.5% Fraudulent</a:t>
            </a:r>
            <a:endParaRPr lang="en-US" sz="15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5F7FA"/>
          </a:solidFill>
          <a:ln/>
        </p:spPr>
      </p:sp>
      <p:sp>
        <p:nvSpPr>
          <p:cNvPr id="3" name="Text 1"/>
          <p:cNvSpPr/>
          <p:nvPr/>
        </p:nvSpPr>
        <p:spPr>
          <a:xfrm>
            <a:off x="548640" y="182880"/>
            <a:ext cx="8046720" cy="320040"/>
          </a:xfrm>
          <a:prstGeom prst="rect">
            <a:avLst/>
          </a:prstGeom>
          <a:noFill/>
          <a:ln/>
        </p:spPr>
        <p:txBody>
          <a:bodyPr wrap="square" rtlCol="0" anchor="ctr"/>
          <a:lstStyle/>
          <a:p>
            <a:pPr marL="0" indent="0">
              <a:buNone/>
            </a:pPr>
            <a:r>
              <a:rPr lang="en-US" sz="3600" b="1" dirty="0">
                <a:solidFill>
                  <a:srgbClr val="1A3A52"/>
                </a:solidFill>
                <a:latin typeface="Calibri" pitchFamily="34" charset="0"/>
                <a:ea typeface="Calibri" pitchFamily="34" charset="-122"/>
                <a:cs typeface="Calibri" pitchFamily="34" charset="-120"/>
              </a:rPr>
              <a:t>Feature Engineering</a:t>
            </a:r>
            <a:endParaRPr lang="en-US" sz="3600" dirty="0"/>
          </a:p>
        </p:txBody>
      </p:sp>
      <p:sp>
        <p:nvSpPr>
          <p:cNvPr id="4" name="Text 2"/>
          <p:cNvSpPr/>
          <p:nvPr/>
        </p:nvSpPr>
        <p:spPr>
          <a:xfrm>
            <a:off x="731520" y="914400"/>
            <a:ext cx="7680960" cy="365760"/>
          </a:xfrm>
          <a:prstGeom prst="rect">
            <a:avLst/>
          </a:prstGeom>
          <a:noFill/>
          <a:ln/>
        </p:spPr>
        <p:txBody>
          <a:bodyPr wrap="square" rtlCol="0" anchor="ctr"/>
          <a:lstStyle/>
          <a:p>
            <a:pPr marL="0" indent="0">
              <a:buNone/>
            </a:pPr>
            <a:r>
              <a:rPr lang="en-US" sz="1500" dirty="0">
                <a:solidFill>
                  <a:srgbClr val="546E7A"/>
                </a:solidFill>
                <a:latin typeface="Calibri" pitchFamily="34" charset="0"/>
                <a:ea typeface="Calibri" pitchFamily="34" charset="-122"/>
                <a:cs typeface="Calibri" pitchFamily="34" charset="-120"/>
              </a:rPr>
              <a:t>Created 11 new features through domain-informed transformations to extract meaningful fraud patterns.</a:t>
            </a:r>
            <a:endParaRPr lang="en-US" sz="1500" dirty="0"/>
          </a:p>
        </p:txBody>
      </p:sp>
      <p:sp>
        <p:nvSpPr>
          <p:cNvPr id="5" name="Shape 3"/>
          <p:cNvSpPr/>
          <p:nvPr/>
        </p:nvSpPr>
        <p:spPr>
          <a:xfrm>
            <a:off x="731520" y="1463040"/>
            <a:ext cx="7680960" cy="685800"/>
          </a:xfrm>
          <a:prstGeom prst="rect">
            <a:avLst/>
          </a:prstGeom>
          <a:solidFill>
            <a:srgbClr val="F5F7FA"/>
          </a:solidFill>
          <a:ln w="12700">
            <a:solidFill>
              <a:srgbClr val="6D9BB8"/>
            </a:solidFill>
            <a:prstDash val="solid"/>
          </a:ln>
        </p:spPr>
      </p:sp>
      <p:sp>
        <p:nvSpPr>
          <p:cNvPr id="6" name="Text 4"/>
          <p:cNvSpPr/>
          <p:nvPr/>
        </p:nvSpPr>
        <p:spPr>
          <a:xfrm>
            <a:off x="1005840" y="1572768"/>
            <a:ext cx="7315200" cy="201168"/>
          </a:xfrm>
          <a:prstGeom prst="rect">
            <a:avLst/>
          </a:prstGeom>
          <a:noFill/>
          <a:ln/>
        </p:spPr>
        <p:txBody>
          <a:bodyPr wrap="square" rtlCol="0" anchor="ctr"/>
          <a:lstStyle/>
          <a:p>
            <a:pPr marL="0" indent="0">
              <a:buNone/>
            </a:pPr>
            <a:r>
              <a:rPr lang="en-US" sz="1600" b="1" dirty="0">
                <a:solidFill>
                  <a:srgbClr val="1A3A52"/>
                </a:solidFill>
                <a:latin typeface="Calibri" pitchFamily="34" charset="0"/>
                <a:ea typeface="Calibri" pitchFamily="34" charset="-122"/>
                <a:cs typeface="Calibri" pitchFamily="34" charset="-120"/>
              </a:rPr>
              <a:t>Temporal Features (5 features)</a:t>
            </a:r>
            <a:endParaRPr lang="en-US" sz="1600" dirty="0"/>
          </a:p>
        </p:txBody>
      </p:sp>
      <p:sp>
        <p:nvSpPr>
          <p:cNvPr id="7" name="Text 5"/>
          <p:cNvSpPr/>
          <p:nvPr/>
        </p:nvSpPr>
        <p:spPr>
          <a:xfrm>
            <a:off x="1097280" y="1810512"/>
            <a:ext cx="7132320" cy="146304"/>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  Transaction hour, day of week, sequential day number</a:t>
            </a:r>
            <a:endParaRPr lang="en-US" sz="1300" dirty="0"/>
          </a:p>
        </p:txBody>
      </p:sp>
      <p:sp>
        <p:nvSpPr>
          <p:cNvPr id="8" name="Text 6"/>
          <p:cNvSpPr/>
          <p:nvPr/>
        </p:nvSpPr>
        <p:spPr>
          <a:xfrm>
            <a:off x="1097280" y="1975104"/>
            <a:ext cx="7132320" cy="146304"/>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  Weekend flag and night transaction indicators (midnight-6 AM)</a:t>
            </a:r>
            <a:endParaRPr lang="en-US" sz="1300" dirty="0"/>
          </a:p>
        </p:txBody>
      </p:sp>
      <p:sp>
        <p:nvSpPr>
          <p:cNvPr id="9" name="Shape 7"/>
          <p:cNvSpPr/>
          <p:nvPr/>
        </p:nvSpPr>
        <p:spPr>
          <a:xfrm>
            <a:off x="731520" y="2240280"/>
            <a:ext cx="7680960" cy="685800"/>
          </a:xfrm>
          <a:prstGeom prst="rect">
            <a:avLst/>
          </a:prstGeom>
          <a:solidFill>
            <a:srgbClr val="F5F7FA"/>
          </a:solidFill>
          <a:ln w="12700">
            <a:solidFill>
              <a:srgbClr val="6D9BB8"/>
            </a:solidFill>
            <a:prstDash val="solid"/>
          </a:ln>
        </p:spPr>
      </p:sp>
      <p:sp>
        <p:nvSpPr>
          <p:cNvPr id="10" name="Text 8"/>
          <p:cNvSpPr/>
          <p:nvPr/>
        </p:nvSpPr>
        <p:spPr>
          <a:xfrm>
            <a:off x="1005840" y="2350008"/>
            <a:ext cx="7315200" cy="201168"/>
          </a:xfrm>
          <a:prstGeom prst="rect">
            <a:avLst/>
          </a:prstGeom>
          <a:noFill/>
          <a:ln/>
        </p:spPr>
        <p:txBody>
          <a:bodyPr wrap="square" rtlCol="0" anchor="ctr"/>
          <a:lstStyle/>
          <a:p>
            <a:pPr marL="0" indent="0">
              <a:buNone/>
            </a:pPr>
            <a:r>
              <a:rPr lang="en-US" sz="1600" b="1" dirty="0">
                <a:solidFill>
                  <a:srgbClr val="1A3A52"/>
                </a:solidFill>
                <a:latin typeface="Calibri" pitchFamily="34" charset="0"/>
                <a:ea typeface="Calibri" pitchFamily="34" charset="-122"/>
                <a:cs typeface="Calibri" pitchFamily="34" charset="-120"/>
              </a:rPr>
              <a:t>Transaction Amount Features (3 features)</a:t>
            </a:r>
            <a:endParaRPr lang="en-US" sz="1600" dirty="0"/>
          </a:p>
        </p:txBody>
      </p:sp>
      <p:sp>
        <p:nvSpPr>
          <p:cNvPr id="11" name="Text 9"/>
          <p:cNvSpPr/>
          <p:nvPr/>
        </p:nvSpPr>
        <p:spPr>
          <a:xfrm>
            <a:off x="1097280" y="2587752"/>
            <a:ext cx="7132320" cy="146304"/>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  Log transformation to normalize skewed distribution</a:t>
            </a:r>
            <a:endParaRPr lang="en-US" sz="1300" dirty="0"/>
          </a:p>
        </p:txBody>
      </p:sp>
      <p:sp>
        <p:nvSpPr>
          <p:cNvPr id="12" name="Text 10"/>
          <p:cNvSpPr/>
          <p:nvPr/>
        </p:nvSpPr>
        <p:spPr>
          <a:xfrm>
            <a:off x="1097280" y="2752344"/>
            <a:ext cx="7132320" cy="146304"/>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  Decimal portion and round dollar amount flags</a:t>
            </a:r>
            <a:endParaRPr lang="en-US" sz="1300" dirty="0"/>
          </a:p>
        </p:txBody>
      </p:sp>
      <p:sp>
        <p:nvSpPr>
          <p:cNvPr id="13" name="Shape 11"/>
          <p:cNvSpPr/>
          <p:nvPr/>
        </p:nvSpPr>
        <p:spPr>
          <a:xfrm>
            <a:off x="731520" y="3017520"/>
            <a:ext cx="7680960" cy="685800"/>
          </a:xfrm>
          <a:prstGeom prst="rect">
            <a:avLst/>
          </a:prstGeom>
          <a:solidFill>
            <a:srgbClr val="F5F7FA"/>
          </a:solidFill>
          <a:ln w="12700">
            <a:solidFill>
              <a:srgbClr val="6D9BB8"/>
            </a:solidFill>
            <a:prstDash val="solid"/>
          </a:ln>
        </p:spPr>
      </p:sp>
      <p:sp>
        <p:nvSpPr>
          <p:cNvPr id="14" name="Text 12"/>
          <p:cNvSpPr/>
          <p:nvPr/>
        </p:nvSpPr>
        <p:spPr>
          <a:xfrm>
            <a:off x="1005840" y="3127248"/>
            <a:ext cx="7315200" cy="201168"/>
          </a:xfrm>
          <a:prstGeom prst="rect">
            <a:avLst/>
          </a:prstGeom>
          <a:noFill/>
          <a:ln/>
        </p:spPr>
        <p:txBody>
          <a:bodyPr wrap="square" rtlCol="0" anchor="ctr"/>
          <a:lstStyle/>
          <a:p>
            <a:pPr marL="0" indent="0">
              <a:buNone/>
            </a:pPr>
            <a:r>
              <a:rPr lang="en-US" sz="1600" b="1" dirty="0">
                <a:solidFill>
                  <a:srgbClr val="1A3A52"/>
                </a:solidFill>
                <a:latin typeface="Calibri" pitchFamily="34" charset="0"/>
                <a:ea typeface="Calibri" pitchFamily="34" charset="-122"/>
                <a:cs typeface="Calibri" pitchFamily="34" charset="-120"/>
              </a:rPr>
              <a:t>Email Domain Features (3 features)</a:t>
            </a:r>
            <a:endParaRPr lang="en-US" sz="1600" dirty="0"/>
          </a:p>
        </p:txBody>
      </p:sp>
      <p:sp>
        <p:nvSpPr>
          <p:cNvPr id="15" name="Text 13"/>
          <p:cNvSpPr/>
          <p:nvPr/>
        </p:nvSpPr>
        <p:spPr>
          <a:xfrm>
            <a:off x="1097280" y="3364992"/>
            <a:ext cx="7132320" cy="146304"/>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  Purchaser and recipient email suffix categorization</a:t>
            </a:r>
            <a:endParaRPr lang="en-US" sz="1300" dirty="0"/>
          </a:p>
        </p:txBody>
      </p:sp>
      <p:sp>
        <p:nvSpPr>
          <p:cNvPr id="16" name="Text 14"/>
          <p:cNvSpPr/>
          <p:nvPr/>
        </p:nvSpPr>
        <p:spPr>
          <a:xfrm>
            <a:off x="1097280" y="3529584"/>
            <a:ext cx="7132320" cy="146304"/>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  Email domain matching flag for consistency checks</a:t>
            </a:r>
            <a:endParaRPr lang="en-US" sz="1300" dirty="0"/>
          </a:p>
        </p:txBody>
      </p:sp>
      <p:sp>
        <p:nvSpPr>
          <p:cNvPr id="17" name="Shape 15"/>
          <p:cNvSpPr/>
          <p:nvPr/>
        </p:nvSpPr>
        <p:spPr>
          <a:xfrm>
            <a:off x="731520" y="3794760"/>
            <a:ext cx="7680960" cy="685800"/>
          </a:xfrm>
          <a:prstGeom prst="rect">
            <a:avLst/>
          </a:prstGeom>
          <a:solidFill>
            <a:srgbClr val="F5F7FA"/>
          </a:solidFill>
          <a:ln w="12700">
            <a:solidFill>
              <a:srgbClr val="6D9BB8"/>
            </a:solidFill>
            <a:prstDash val="solid"/>
          </a:ln>
        </p:spPr>
      </p:sp>
      <p:sp>
        <p:nvSpPr>
          <p:cNvPr id="18" name="Text 16"/>
          <p:cNvSpPr/>
          <p:nvPr/>
        </p:nvSpPr>
        <p:spPr>
          <a:xfrm>
            <a:off x="1005840" y="3904488"/>
            <a:ext cx="7315200" cy="201168"/>
          </a:xfrm>
          <a:prstGeom prst="rect">
            <a:avLst/>
          </a:prstGeom>
          <a:noFill/>
          <a:ln/>
        </p:spPr>
        <p:txBody>
          <a:bodyPr wrap="square" rtlCol="0" anchor="ctr"/>
          <a:lstStyle/>
          <a:p>
            <a:pPr marL="0" indent="0">
              <a:buNone/>
            </a:pPr>
            <a:r>
              <a:rPr lang="en-US" sz="1600" b="1" dirty="0">
                <a:solidFill>
                  <a:srgbClr val="1A3A52"/>
                </a:solidFill>
                <a:latin typeface="Calibri" pitchFamily="34" charset="0"/>
                <a:ea typeface="Calibri" pitchFamily="34" charset="-122"/>
                <a:cs typeface="Calibri" pitchFamily="34" charset="-120"/>
              </a:rPr>
              <a:t>Interaction Features (2 features)</a:t>
            </a:r>
            <a:endParaRPr lang="en-US" sz="1600" dirty="0"/>
          </a:p>
        </p:txBody>
      </p:sp>
      <p:sp>
        <p:nvSpPr>
          <p:cNvPr id="19" name="Text 17"/>
          <p:cNvSpPr/>
          <p:nvPr/>
        </p:nvSpPr>
        <p:spPr>
          <a:xfrm>
            <a:off x="1097280" y="4142232"/>
            <a:ext cx="7132320" cy="146304"/>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  Combined card identifiers (card1_card2)</a:t>
            </a:r>
            <a:endParaRPr lang="en-US" sz="1300" dirty="0"/>
          </a:p>
        </p:txBody>
      </p:sp>
      <p:sp>
        <p:nvSpPr>
          <p:cNvPr id="20" name="Text 18"/>
          <p:cNvSpPr/>
          <p:nvPr/>
        </p:nvSpPr>
        <p:spPr>
          <a:xfrm>
            <a:off x="1097280" y="4306824"/>
            <a:ext cx="7132320" cy="146304"/>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  Combined address identifiers (addr1_addr2)</a:t>
            </a:r>
            <a:endParaRPr lang="en-US" sz="13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5F7FA"/>
          </a:solidFill>
          <a:ln/>
        </p:spPr>
      </p:sp>
      <p:sp>
        <p:nvSpPr>
          <p:cNvPr id="3" name="Text 1"/>
          <p:cNvSpPr/>
          <p:nvPr/>
        </p:nvSpPr>
        <p:spPr>
          <a:xfrm>
            <a:off x="548640" y="182880"/>
            <a:ext cx="8046720" cy="320040"/>
          </a:xfrm>
          <a:prstGeom prst="rect">
            <a:avLst/>
          </a:prstGeom>
          <a:noFill/>
          <a:ln/>
        </p:spPr>
        <p:txBody>
          <a:bodyPr wrap="square" rtlCol="0" anchor="ctr"/>
          <a:lstStyle/>
          <a:p>
            <a:pPr marL="0" indent="0">
              <a:buNone/>
            </a:pPr>
            <a:r>
              <a:rPr lang="en-US" sz="3600" b="1" dirty="0">
                <a:solidFill>
                  <a:srgbClr val="1A3A52"/>
                </a:solidFill>
                <a:latin typeface="Calibri" pitchFamily="34" charset="0"/>
                <a:ea typeface="Calibri" pitchFamily="34" charset="-122"/>
                <a:cs typeface="Calibri" pitchFamily="34" charset="-120"/>
              </a:rPr>
              <a:t>Data Preprocessing Pipeline</a:t>
            </a:r>
            <a:endParaRPr lang="en-US" sz="3600" dirty="0"/>
          </a:p>
        </p:txBody>
      </p:sp>
      <p:sp>
        <p:nvSpPr>
          <p:cNvPr id="4" name="Text 2"/>
          <p:cNvSpPr/>
          <p:nvPr/>
        </p:nvSpPr>
        <p:spPr>
          <a:xfrm>
            <a:off x="731520" y="914400"/>
            <a:ext cx="7680960" cy="365760"/>
          </a:xfrm>
          <a:prstGeom prst="rect">
            <a:avLst/>
          </a:prstGeom>
          <a:noFill/>
          <a:ln/>
        </p:spPr>
        <p:txBody>
          <a:bodyPr wrap="square" rtlCol="0" anchor="ctr"/>
          <a:lstStyle/>
          <a:p>
            <a:pPr marL="0" indent="0">
              <a:buNone/>
            </a:pPr>
            <a:r>
              <a:rPr lang="en-US" sz="1500" dirty="0">
                <a:solidFill>
                  <a:srgbClr val="546E7A"/>
                </a:solidFill>
                <a:latin typeface="Calibri" pitchFamily="34" charset="0"/>
                <a:ea typeface="Calibri" pitchFamily="34" charset="-122"/>
                <a:cs typeface="Calibri" pitchFamily="34" charset="-120"/>
              </a:rPr>
              <a:t>Systematic preprocessing workflow to address data quality, encoding challenges, and class imbalance.</a:t>
            </a:r>
            <a:endParaRPr lang="en-US" sz="1500" dirty="0"/>
          </a:p>
        </p:txBody>
      </p:sp>
      <p:sp>
        <p:nvSpPr>
          <p:cNvPr id="5" name="Shape 3"/>
          <p:cNvSpPr/>
          <p:nvPr/>
        </p:nvSpPr>
        <p:spPr>
          <a:xfrm>
            <a:off x="731520" y="1463040"/>
            <a:ext cx="7680960" cy="658368"/>
          </a:xfrm>
          <a:prstGeom prst="rect">
            <a:avLst/>
          </a:prstGeom>
          <a:solidFill>
            <a:srgbClr val="F5F7FA"/>
          </a:solidFill>
          <a:ln w="12700">
            <a:solidFill>
              <a:srgbClr val="6D9BB8"/>
            </a:solidFill>
            <a:prstDash val="solid"/>
          </a:ln>
        </p:spPr>
      </p:sp>
      <p:sp>
        <p:nvSpPr>
          <p:cNvPr id="6" name="Shape 4"/>
          <p:cNvSpPr/>
          <p:nvPr/>
        </p:nvSpPr>
        <p:spPr>
          <a:xfrm>
            <a:off x="731520" y="1463040"/>
            <a:ext cx="502920" cy="658368"/>
          </a:xfrm>
          <a:prstGeom prst="rect">
            <a:avLst/>
          </a:prstGeom>
          <a:solidFill>
            <a:srgbClr val="2E5266"/>
          </a:solidFill>
          <a:ln/>
        </p:spPr>
      </p:sp>
      <p:sp>
        <p:nvSpPr>
          <p:cNvPr id="7" name="Text 5"/>
          <p:cNvSpPr/>
          <p:nvPr/>
        </p:nvSpPr>
        <p:spPr>
          <a:xfrm>
            <a:off x="731520" y="1655064"/>
            <a:ext cx="502920" cy="27432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8" name="Text 6"/>
          <p:cNvSpPr/>
          <p:nvPr/>
        </p:nvSpPr>
        <p:spPr>
          <a:xfrm>
            <a:off x="1371600" y="1572768"/>
            <a:ext cx="6858000" cy="201168"/>
          </a:xfrm>
          <a:prstGeom prst="rect">
            <a:avLst/>
          </a:prstGeom>
          <a:noFill/>
          <a:ln/>
        </p:spPr>
        <p:txBody>
          <a:bodyPr wrap="square" rtlCol="0" anchor="ctr"/>
          <a:lstStyle/>
          <a:p>
            <a:pPr marL="0" indent="0">
              <a:buNone/>
            </a:pPr>
            <a:r>
              <a:rPr lang="en-US" sz="1600" b="1" dirty="0">
                <a:solidFill>
                  <a:srgbClr val="1A3A52"/>
                </a:solidFill>
                <a:latin typeface="Calibri" pitchFamily="34" charset="0"/>
                <a:ea typeface="Calibri" pitchFamily="34" charset="-122"/>
                <a:cs typeface="Calibri" pitchFamily="34" charset="-120"/>
              </a:rPr>
              <a:t>Missing Value Treatment</a:t>
            </a:r>
            <a:endParaRPr lang="en-US" sz="1600" dirty="0"/>
          </a:p>
        </p:txBody>
      </p:sp>
      <p:sp>
        <p:nvSpPr>
          <p:cNvPr id="9" name="Text 7"/>
          <p:cNvSpPr/>
          <p:nvPr/>
        </p:nvSpPr>
        <p:spPr>
          <a:xfrm>
            <a:off x="1371600" y="1841417"/>
            <a:ext cx="6858000" cy="213785"/>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Removed high-missing features (&gt;80%). Median imputation for numeric, filled categorical with 'Unknown'.</a:t>
            </a:r>
            <a:endParaRPr lang="en-US" sz="1300" dirty="0"/>
          </a:p>
        </p:txBody>
      </p:sp>
      <p:sp>
        <p:nvSpPr>
          <p:cNvPr id="10" name="Shape 8"/>
          <p:cNvSpPr/>
          <p:nvPr/>
        </p:nvSpPr>
        <p:spPr>
          <a:xfrm>
            <a:off x="731520" y="2212848"/>
            <a:ext cx="7680960" cy="658368"/>
          </a:xfrm>
          <a:prstGeom prst="rect">
            <a:avLst/>
          </a:prstGeom>
          <a:solidFill>
            <a:srgbClr val="F5F7FA"/>
          </a:solidFill>
          <a:ln w="12700">
            <a:solidFill>
              <a:srgbClr val="6D9BB8"/>
            </a:solidFill>
            <a:prstDash val="solid"/>
          </a:ln>
        </p:spPr>
      </p:sp>
      <p:sp>
        <p:nvSpPr>
          <p:cNvPr id="11" name="Shape 9"/>
          <p:cNvSpPr/>
          <p:nvPr/>
        </p:nvSpPr>
        <p:spPr>
          <a:xfrm>
            <a:off x="731520" y="2212848"/>
            <a:ext cx="502920" cy="658368"/>
          </a:xfrm>
          <a:prstGeom prst="rect">
            <a:avLst/>
          </a:prstGeom>
          <a:solidFill>
            <a:srgbClr val="2E5266"/>
          </a:solidFill>
          <a:ln/>
        </p:spPr>
      </p:sp>
      <p:sp>
        <p:nvSpPr>
          <p:cNvPr id="12" name="Text 10"/>
          <p:cNvSpPr/>
          <p:nvPr/>
        </p:nvSpPr>
        <p:spPr>
          <a:xfrm>
            <a:off x="731520" y="2404872"/>
            <a:ext cx="502920" cy="27432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3" name="Text 11"/>
          <p:cNvSpPr/>
          <p:nvPr/>
        </p:nvSpPr>
        <p:spPr>
          <a:xfrm>
            <a:off x="1371600" y="2322576"/>
            <a:ext cx="6858000" cy="201168"/>
          </a:xfrm>
          <a:prstGeom prst="rect">
            <a:avLst/>
          </a:prstGeom>
          <a:noFill/>
          <a:ln/>
        </p:spPr>
        <p:txBody>
          <a:bodyPr wrap="square" rtlCol="0" anchor="ctr"/>
          <a:lstStyle/>
          <a:p>
            <a:pPr marL="0" indent="0">
              <a:buNone/>
            </a:pPr>
            <a:r>
              <a:rPr lang="en-US" sz="1600" b="1" dirty="0">
                <a:solidFill>
                  <a:srgbClr val="1A3A52"/>
                </a:solidFill>
                <a:latin typeface="Calibri" pitchFamily="34" charset="0"/>
                <a:ea typeface="Calibri" pitchFamily="34" charset="-122"/>
                <a:cs typeface="Calibri" pitchFamily="34" charset="-120"/>
              </a:rPr>
              <a:t>Categorical Encoding</a:t>
            </a:r>
            <a:endParaRPr lang="en-US" sz="1600" dirty="0"/>
          </a:p>
        </p:txBody>
      </p:sp>
      <p:sp>
        <p:nvSpPr>
          <p:cNvPr id="14" name="Text 12"/>
          <p:cNvSpPr/>
          <p:nvPr/>
        </p:nvSpPr>
        <p:spPr>
          <a:xfrm>
            <a:off x="1371600" y="2560320"/>
            <a:ext cx="6858000" cy="256032"/>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Label encoding for high-cardinality (&gt;10 values). One-hot encoding for low-cardinality features.</a:t>
            </a:r>
            <a:endParaRPr lang="en-US" sz="1300" dirty="0"/>
          </a:p>
        </p:txBody>
      </p:sp>
      <p:sp>
        <p:nvSpPr>
          <p:cNvPr id="15" name="Shape 13"/>
          <p:cNvSpPr/>
          <p:nvPr/>
        </p:nvSpPr>
        <p:spPr>
          <a:xfrm>
            <a:off x="731520" y="2962656"/>
            <a:ext cx="7680960" cy="658368"/>
          </a:xfrm>
          <a:prstGeom prst="rect">
            <a:avLst/>
          </a:prstGeom>
          <a:solidFill>
            <a:srgbClr val="F5F7FA"/>
          </a:solidFill>
          <a:ln w="12700">
            <a:solidFill>
              <a:srgbClr val="6D9BB8"/>
            </a:solidFill>
            <a:prstDash val="solid"/>
          </a:ln>
        </p:spPr>
      </p:sp>
      <p:sp>
        <p:nvSpPr>
          <p:cNvPr id="16" name="Shape 14"/>
          <p:cNvSpPr/>
          <p:nvPr/>
        </p:nvSpPr>
        <p:spPr>
          <a:xfrm>
            <a:off x="731520" y="2962656"/>
            <a:ext cx="502920" cy="658368"/>
          </a:xfrm>
          <a:prstGeom prst="rect">
            <a:avLst/>
          </a:prstGeom>
          <a:solidFill>
            <a:srgbClr val="2E5266"/>
          </a:solidFill>
          <a:ln/>
        </p:spPr>
      </p:sp>
      <p:sp>
        <p:nvSpPr>
          <p:cNvPr id="17" name="Text 15"/>
          <p:cNvSpPr/>
          <p:nvPr/>
        </p:nvSpPr>
        <p:spPr>
          <a:xfrm>
            <a:off x="731520" y="3154680"/>
            <a:ext cx="502920" cy="27432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8" name="Text 16"/>
          <p:cNvSpPr/>
          <p:nvPr/>
        </p:nvSpPr>
        <p:spPr>
          <a:xfrm>
            <a:off x="1371600" y="3072384"/>
            <a:ext cx="6858000" cy="201168"/>
          </a:xfrm>
          <a:prstGeom prst="rect">
            <a:avLst/>
          </a:prstGeom>
          <a:noFill/>
          <a:ln/>
        </p:spPr>
        <p:txBody>
          <a:bodyPr wrap="square" rtlCol="0" anchor="ctr"/>
          <a:lstStyle/>
          <a:p>
            <a:pPr marL="0" indent="0">
              <a:buNone/>
            </a:pPr>
            <a:r>
              <a:rPr lang="en-US" sz="1600" b="1" dirty="0">
                <a:solidFill>
                  <a:srgbClr val="1A3A52"/>
                </a:solidFill>
                <a:latin typeface="Calibri" pitchFamily="34" charset="0"/>
                <a:ea typeface="Calibri" pitchFamily="34" charset="-122"/>
                <a:cs typeface="Calibri" pitchFamily="34" charset="-120"/>
              </a:rPr>
              <a:t>Train-Test Split</a:t>
            </a:r>
            <a:endParaRPr lang="en-US" sz="1600" dirty="0"/>
          </a:p>
        </p:txBody>
      </p:sp>
      <p:sp>
        <p:nvSpPr>
          <p:cNvPr id="19" name="Text 17"/>
          <p:cNvSpPr/>
          <p:nvPr/>
        </p:nvSpPr>
        <p:spPr>
          <a:xfrm>
            <a:off x="1371600" y="3310128"/>
            <a:ext cx="6858000" cy="256032"/>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80/20 stratified split. Training: 472,432 samples. Test: 118,108 samples with original imbalance.</a:t>
            </a:r>
            <a:endParaRPr lang="en-US" sz="1300" dirty="0"/>
          </a:p>
        </p:txBody>
      </p:sp>
      <p:sp>
        <p:nvSpPr>
          <p:cNvPr id="20" name="Shape 18"/>
          <p:cNvSpPr/>
          <p:nvPr/>
        </p:nvSpPr>
        <p:spPr>
          <a:xfrm>
            <a:off x="731520" y="3712464"/>
            <a:ext cx="7680960" cy="658368"/>
          </a:xfrm>
          <a:prstGeom prst="rect">
            <a:avLst/>
          </a:prstGeom>
          <a:solidFill>
            <a:srgbClr val="F5F7FA"/>
          </a:solidFill>
          <a:ln w="12700">
            <a:solidFill>
              <a:srgbClr val="6D9BB8"/>
            </a:solidFill>
            <a:prstDash val="solid"/>
          </a:ln>
        </p:spPr>
      </p:sp>
      <p:sp>
        <p:nvSpPr>
          <p:cNvPr id="21" name="Shape 19"/>
          <p:cNvSpPr/>
          <p:nvPr/>
        </p:nvSpPr>
        <p:spPr>
          <a:xfrm>
            <a:off x="731520" y="3712464"/>
            <a:ext cx="502920" cy="658368"/>
          </a:xfrm>
          <a:prstGeom prst="rect">
            <a:avLst/>
          </a:prstGeom>
          <a:solidFill>
            <a:srgbClr val="2E5266"/>
          </a:solidFill>
          <a:ln/>
        </p:spPr>
      </p:sp>
      <p:sp>
        <p:nvSpPr>
          <p:cNvPr id="22" name="Text 20"/>
          <p:cNvSpPr/>
          <p:nvPr/>
        </p:nvSpPr>
        <p:spPr>
          <a:xfrm>
            <a:off x="731520" y="3904488"/>
            <a:ext cx="502920" cy="27432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23" name="Text 21"/>
          <p:cNvSpPr/>
          <p:nvPr/>
        </p:nvSpPr>
        <p:spPr>
          <a:xfrm>
            <a:off x="1371600" y="3791287"/>
            <a:ext cx="6858000" cy="201168"/>
          </a:xfrm>
          <a:prstGeom prst="rect">
            <a:avLst/>
          </a:prstGeom>
          <a:noFill/>
          <a:ln/>
        </p:spPr>
        <p:txBody>
          <a:bodyPr wrap="square" rtlCol="0" anchor="ctr"/>
          <a:lstStyle/>
          <a:p>
            <a:pPr marL="0" indent="0">
              <a:buNone/>
            </a:pPr>
            <a:r>
              <a:rPr lang="en-US" sz="1600" b="1" dirty="0">
                <a:solidFill>
                  <a:srgbClr val="1A3A52"/>
                </a:solidFill>
                <a:latin typeface="Calibri" pitchFamily="34" charset="0"/>
                <a:ea typeface="Calibri" pitchFamily="34" charset="-122"/>
                <a:cs typeface="Calibri" pitchFamily="34" charset="-120"/>
              </a:rPr>
              <a:t>SMOTE for Balance</a:t>
            </a:r>
            <a:endParaRPr lang="en-US" sz="1600" dirty="0"/>
          </a:p>
        </p:txBody>
      </p:sp>
      <p:sp>
        <p:nvSpPr>
          <p:cNvPr id="24" name="Text 22"/>
          <p:cNvSpPr/>
          <p:nvPr/>
        </p:nvSpPr>
        <p:spPr>
          <a:xfrm>
            <a:off x="1371600" y="4059936"/>
            <a:ext cx="6858000" cy="256032"/>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Applied to training only. Sampling strategy=0.5, achieving 1:2 fraud ratio (~66.7% legit, ~33.3% fraud).</a:t>
            </a:r>
            <a:endParaRPr lang="en-US" sz="13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5F7FA"/>
          </a:solidFill>
          <a:ln/>
        </p:spPr>
      </p:sp>
      <p:sp>
        <p:nvSpPr>
          <p:cNvPr id="3" name="Text 1"/>
          <p:cNvSpPr/>
          <p:nvPr/>
        </p:nvSpPr>
        <p:spPr>
          <a:xfrm>
            <a:off x="548640" y="182880"/>
            <a:ext cx="8046720" cy="320040"/>
          </a:xfrm>
          <a:prstGeom prst="rect">
            <a:avLst/>
          </a:prstGeom>
          <a:noFill/>
          <a:ln/>
        </p:spPr>
        <p:txBody>
          <a:bodyPr wrap="square" rtlCol="0" anchor="ctr"/>
          <a:lstStyle/>
          <a:p>
            <a:pPr marL="0" indent="0">
              <a:buNone/>
            </a:pPr>
            <a:r>
              <a:rPr lang="en-US" sz="3600" b="1" dirty="0">
                <a:solidFill>
                  <a:srgbClr val="1A3A52"/>
                </a:solidFill>
                <a:latin typeface="Calibri" pitchFamily="34" charset="0"/>
                <a:ea typeface="Calibri" pitchFamily="34" charset="-122"/>
                <a:cs typeface="Calibri" pitchFamily="34" charset="-120"/>
              </a:rPr>
              <a:t>Model Selection Rationale</a:t>
            </a:r>
            <a:endParaRPr lang="en-US" sz="3600" dirty="0"/>
          </a:p>
        </p:txBody>
      </p:sp>
      <p:sp>
        <p:nvSpPr>
          <p:cNvPr id="4" name="Text 2"/>
          <p:cNvSpPr/>
          <p:nvPr/>
        </p:nvSpPr>
        <p:spPr>
          <a:xfrm>
            <a:off x="731520" y="914400"/>
            <a:ext cx="7680960" cy="365760"/>
          </a:xfrm>
          <a:prstGeom prst="rect">
            <a:avLst/>
          </a:prstGeom>
          <a:noFill/>
          <a:ln/>
        </p:spPr>
        <p:txBody>
          <a:bodyPr wrap="square" rtlCol="0" anchor="ctr"/>
          <a:lstStyle/>
          <a:p>
            <a:pPr marL="0" indent="0">
              <a:buNone/>
            </a:pPr>
            <a:r>
              <a:rPr lang="en-US" sz="1500" dirty="0">
                <a:solidFill>
                  <a:srgbClr val="546E7A"/>
                </a:solidFill>
                <a:latin typeface="Calibri" pitchFamily="34" charset="0"/>
                <a:ea typeface="Calibri" pitchFamily="34" charset="-122"/>
                <a:cs typeface="Calibri" pitchFamily="34" charset="-120"/>
              </a:rPr>
              <a:t>Four distinct architectures representing different ML paradigms, from simple baseline to advanced ensemble methods.</a:t>
            </a:r>
            <a:endParaRPr lang="en-US" sz="1500" dirty="0"/>
          </a:p>
        </p:txBody>
      </p:sp>
      <p:sp>
        <p:nvSpPr>
          <p:cNvPr id="5" name="Shape 3"/>
          <p:cNvSpPr/>
          <p:nvPr/>
        </p:nvSpPr>
        <p:spPr>
          <a:xfrm>
            <a:off x="731520" y="1463040"/>
            <a:ext cx="3657600" cy="1371600"/>
          </a:xfrm>
          <a:prstGeom prst="rect">
            <a:avLst/>
          </a:prstGeom>
          <a:solidFill>
            <a:srgbClr val="F5F7FA"/>
          </a:solidFill>
          <a:ln w="25400">
            <a:solidFill>
              <a:srgbClr val="6D9BB8"/>
            </a:solidFill>
            <a:prstDash val="solid"/>
          </a:ln>
        </p:spPr>
      </p:sp>
      <p:sp>
        <p:nvSpPr>
          <p:cNvPr id="6" name="Text 4"/>
          <p:cNvSpPr/>
          <p:nvPr/>
        </p:nvSpPr>
        <p:spPr>
          <a:xfrm>
            <a:off x="914400" y="1600200"/>
            <a:ext cx="3291840" cy="228600"/>
          </a:xfrm>
          <a:prstGeom prst="rect">
            <a:avLst/>
          </a:prstGeom>
          <a:noFill/>
          <a:ln/>
        </p:spPr>
        <p:txBody>
          <a:bodyPr wrap="square" rtlCol="0" anchor="ctr"/>
          <a:lstStyle/>
          <a:p>
            <a:pPr marL="0" indent="0">
              <a:buNone/>
            </a:pPr>
            <a:r>
              <a:rPr lang="en-US" sz="1800" b="1" dirty="0">
                <a:solidFill>
                  <a:srgbClr val="1A3A52"/>
                </a:solidFill>
                <a:latin typeface="Calibri" pitchFamily="34" charset="0"/>
                <a:ea typeface="Calibri" pitchFamily="34" charset="-122"/>
                <a:cs typeface="Calibri" pitchFamily="34" charset="-120"/>
              </a:rPr>
              <a:t>Logistic Regression</a:t>
            </a:r>
            <a:endParaRPr lang="en-US" sz="1800" dirty="0"/>
          </a:p>
        </p:txBody>
      </p:sp>
      <p:sp>
        <p:nvSpPr>
          <p:cNvPr id="7" name="Text 5"/>
          <p:cNvSpPr/>
          <p:nvPr/>
        </p:nvSpPr>
        <p:spPr>
          <a:xfrm>
            <a:off x="914400" y="1847088"/>
            <a:ext cx="3291840" cy="164592"/>
          </a:xfrm>
          <a:prstGeom prst="rect">
            <a:avLst/>
          </a:prstGeom>
          <a:noFill/>
          <a:ln/>
        </p:spPr>
        <p:txBody>
          <a:bodyPr wrap="square" rtlCol="0" anchor="ctr"/>
          <a:lstStyle/>
          <a:p>
            <a:pPr marL="0" indent="0">
              <a:buNone/>
            </a:pPr>
            <a:r>
              <a:rPr lang="en-US" sz="1300" i="1" dirty="0">
                <a:solidFill>
                  <a:srgbClr val="4A7C99"/>
                </a:solidFill>
                <a:latin typeface="Calibri" pitchFamily="34" charset="0"/>
                <a:ea typeface="Calibri" pitchFamily="34" charset="-122"/>
                <a:cs typeface="Calibri" pitchFamily="34" charset="-120"/>
              </a:rPr>
              <a:t>Linear Baseline</a:t>
            </a:r>
            <a:endParaRPr lang="en-US" sz="1300" dirty="0"/>
          </a:p>
        </p:txBody>
      </p:sp>
      <p:sp>
        <p:nvSpPr>
          <p:cNvPr id="8" name="Text 6"/>
          <p:cNvSpPr/>
          <p:nvPr/>
        </p:nvSpPr>
        <p:spPr>
          <a:xfrm>
            <a:off x="914400" y="2087206"/>
            <a:ext cx="3291840" cy="384048"/>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Fast, interpretable coefficients. Well-calibrated probabilities for threshold optimization.</a:t>
            </a:r>
            <a:endParaRPr lang="en-US" sz="1300" dirty="0"/>
          </a:p>
        </p:txBody>
      </p:sp>
      <p:sp>
        <p:nvSpPr>
          <p:cNvPr id="9" name="Shape 7"/>
          <p:cNvSpPr/>
          <p:nvPr/>
        </p:nvSpPr>
        <p:spPr>
          <a:xfrm>
            <a:off x="914400" y="2555571"/>
            <a:ext cx="3291840" cy="256032"/>
          </a:xfrm>
          <a:prstGeom prst="rect">
            <a:avLst/>
          </a:prstGeom>
          <a:solidFill>
            <a:srgbClr val="E8EFF5"/>
          </a:solidFill>
          <a:ln/>
        </p:spPr>
      </p:sp>
      <p:sp>
        <p:nvSpPr>
          <p:cNvPr id="10" name="Text 8"/>
          <p:cNvSpPr/>
          <p:nvPr/>
        </p:nvSpPr>
        <p:spPr>
          <a:xfrm>
            <a:off x="822960" y="2578608"/>
            <a:ext cx="3291840" cy="155732"/>
          </a:xfrm>
          <a:prstGeom prst="rect">
            <a:avLst/>
          </a:prstGeom>
          <a:noFill/>
          <a:ln/>
        </p:spPr>
        <p:txBody>
          <a:bodyPr wrap="square" rtlCol="0" anchor="ctr"/>
          <a:lstStyle/>
          <a:p>
            <a:pPr marL="0" indent="0" algn="ctr">
              <a:buNone/>
            </a:pPr>
            <a:r>
              <a:rPr lang="en-US" sz="1100" dirty="0">
                <a:solidFill>
                  <a:srgbClr val="546E7A"/>
                </a:solidFill>
                <a:latin typeface="Calibri" pitchFamily="34" charset="0"/>
                <a:ea typeface="Calibri" pitchFamily="34" charset="-122"/>
                <a:cs typeface="Calibri" pitchFamily="34" charset="-120"/>
              </a:rPr>
              <a:t>L2 regularization • Balanced weights • 1000 iterations</a:t>
            </a:r>
            <a:endParaRPr lang="en-US" sz="1100" dirty="0"/>
          </a:p>
        </p:txBody>
      </p:sp>
      <p:sp>
        <p:nvSpPr>
          <p:cNvPr id="11" name="Shape 9"/>
          <p:cNvSpPr/>
          <p:nvPr/>
        </p:nvSpPr>
        <p:spPr>
          <a:xfrm>
            <a:off x="4572000" y="1463040"/>
            <a:ext cx="3657600" cy="1371600"/>
          </a:xfrm>
          <a:prstGeom prst="rect">
            <a:avLst/>
          </a:prstGeom>
          <a:solidFill>
            <a:srgbClr val="F5F7FA"/>
          </a:solidFill>
          <a:ln w="25400">
            <a:solidFill>
              <a:srgbClr val="6D9BB8"/>
            </a:solidFill>
            <a:prstDash val="solid"/>
          </a:ln>
        </p:spPr>
      </p:sp>
      <p:sp>
        <p:nvSpPr>
          <p:cNvPr id="12" name="Text 10"/>
          <p:cNvSpPr/>
          <p:nvPr/>
        </p:nvSpPr>
        <p:spPr>
          <a:xfrm>
            <a:off x="4754880" y="1600200"/>
            <a:ext cx="3291840" cy="228600"/>
          </a:xfrm>
          <a:prstGeom prst="rect">
            <a:avLst/>
          </a:prstGeom>
          <a:noFill/>
          <a:ln/>
        </p:spPr>
        <p:txBody>
          <a:bodyPr wrap="square" rtlCol="0" anchor="ctr"/>
          <a:lstStyle/>
          <a:p>
            <a:pPr marL="0" indent="0">
              <a:buNone/>
            </a:pPr>
            <a:r>
              <a:rPr lang="en-US" sz="1800" b="1" dirty="0">
                <a:solidFill>
                  <a:srgbClr val="1A3A52"/>
                </a:solidFill>
                <a:latin typeface="Calibri" pitchFamily="34" charset="0"/>
                <a:ea typeface="Calibri" pitchFamily="34" charset="-122"/>
                <a:cs typeface="Calibri" pitchFamily="34" charset="-120"/>
              </a:rPr>
              <a:t>Random Forest</a:t>
            </a:r>
            <a:endParaRPr lang="en-US" sz="1800" dirty="0"/>
          </a:p>
        </p:txBody>
      </p:sp>
      <p:sp>
        <p:nvSpPr>
          <p:cNvPr id="13" name="Text 11"/>
          <p:cNvSpPr/>
          <p:nvPr/>
        </p:nvSpPr>
        <p:spPr>
          <a:xfrm>
            <a:off x="4754880" y="1847088"/>
            <a:ext cx="3291840" cy="164592"/>
          </a:xfrm>
          <a:prstGeom prst="rect">
            <a:avLst/>
          </a:prstGeom>
          <a:noFill/>
          <a:ln/>
        </p:spPr>
        <p:txBody>
          <a:bodyPr wrap="square" rtlCol="0" anchor="ctr"/>
          <a:lstStyle/>
          <a:p>
            <a:pPr marL="0" indent="0">
              <a:buNone/>
            </a:pPr>
            <a:r>
              <a:rPr lang="en-US" sz="1300" i="1" dirty="0">
                <a:solidFill>
                  <a:srgbClr val="4A7C99"/>
                </a:solidFill>
                <a:latin typeface="Calibri" pitchFamily="34" charset="0"/>
                <a:ea typeface="Calibri" pitchFamily="34" charset="-122"/>
                <a:cs typeface="Calibri" pitchFamily="34" charset="-120"/>
              </a:rPr>
              <a:t>Ensemble Learning</a:t>
            </a:r>
            <a:endParaRPr lang="en-US" sz="1300" dirty="0"/>
          </a:p>
        </p:txBody>
      </p:sp>
      <p:sp>
        <p:nvSpPr>
          <p:cNvPr id="14" name="Text 12"/>
          <p:cNvSpPr/>
          <p:nvPr/>
        </p:nvSpPr>
        <p:spPr>
          <a:xfrm>
            <a:off x="4754880" y="2057400"/>
            <a:ext cx="3291840" cy="384048"/>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Captures non-linear patterns. Robust to outliers with feature importance rankings.</a:t>
            </a:r>
            <a:endParaRPr lang="en-US" sz="1300" dirty="0"/>
          </a:p>
        </p:txBody>
      </p:sp>
      <p:sp>
        <p:nvSpPr>
          <p:cNvPr id="15" name="Shape 13"/>
          <p:cNvSpPr/>
          <p:nvPr/>
        </p:nvSpPr>
        <p:spPr>
          <a:xfrm>
            <a:off x="4754880" y="2487168"/>
            <a:ext cx="3291840" cy="256032"/>
          </a:xfrm>
          <a:prstGeom prst="rect">
            <a:avLst/>
          </a:prstGeom>
          <a:solidFill>
            <a:srgbClr val="E8EFF5"/>
          </a:solidFill>
          <a:ln/>
        </p:spPr>
      </p:sp>
      <p:sp>
        <p:nvSpPr>
          <p:cNvPr id="16" name="Text 14"/>
          <p:cNvSpPr/>
          <p:nvPr/>
        </p:nvSpPr>
        <p:spPr>
          <a:xfrm>
            <a:off x="4846320" y="2551176"/>
            <a:ext cx="3108960" cy="128016"/>
          </a:xfrm>
          <a:prstGeom prst="rect">
            <a:avLst/>
          </a:prstGeom>
          <a:noFill/>
          <a:ln/>
        </p:spPr>
        <p:txBody>
          <a:bodyPr wrap="square" rtlCol="0" anchor="ctr"/>
          <a:lstStyle/>
          <a:p>
            <a:pPr marL="0" indent="0" algn="ctr">
              <a:buNone/>
            </a:pPr>
            <a:r>
              <a:rPr lang="en-US" sz="1100" dirty="0">
                <a:solidFill>
                  <a:srgbClr val="546E7A"/>
                </a:solidFill>
                <a:latin typeface="Calibri" pitchFamily="34" charset="0"/>
                <a:ea typeface="Calibri" pitchFamily="34" charset="-122"/>
                <a:cs typeface="Calibri" pitchFamily="34" charset="-120"/>
              </a:rPr>
              <a:t>100 trees • Max depth 15 • Min samples 10</a:t>
            </a:r>
            <a:endParaRPr lang="en-US" sz="1100" dirty="0"/>
          </a:p>
        </p:txBody>
      </p:sp>
      <p:sp>
        <p:nvSpPr>
          <p:cNvPr id="17" name="Shape 15"/>
          <p:cNvSpPr/>
          <p:nvPr/>
        </p:nvSpPr>
        <p:spPr>
          <a:xfrm>
            <a:off x="731520" y="3017520"/>
            <a:ext cx="3657600" cy="1371600"/>
          </a:xfrm>
          <a:prstGeom prst="rect">
            <a:avLst/>
          </a:prstGeom>
          <a:solidFill>
            <a:srgbClr val="F5F7FA"/>
          </a:solidFill>
          <a:ln w="25400">
            <a:solidFill>
              <a:srgbClr val="6D9BB8"/>
            </a:solidFill>
            <a:prstDash val="solid"/>
          </a:ln>
        </p:spPr>
      </p:sp>
      <p:sp>
        <p:nvSpPr>
          <p:cNvPr id="18" name="Text 16"/>
          <p:cNvSpPr/>
          <p:nvPr/>
        </p:nvSpPr>
        <p:spPr>
          <a:xfrm>
            <a:off x="914400" y="3154680"/>
            <a:ext cx="3291840" cy="228600"/>
          </a:xfrm>
          <a:prstGeom prst="rect">
            <a:avLst/>
          </a:prstGeom>
          <a:noFill/>
          <a:ln/>
        </p:spPr>
        <p:txBody>
          <a:bodyPr wrap="square" rtlCol="0" anchor="ctr"/>
          <a:lstStyle/>
          <a:p>
            <a:pPr marL="0" indent="0">
              <a:buNone/>
            </a:pPr>
            <a:r>
              <a:rPr lang="en-US" sz="1800" b="1" dirty="0">
                <a:solidFill>
                  <a:srgbClr val="1A3A52"/>
                </a:solidFill>
                <a:latin typeface="Calibri" pitchFamily="34" charset="0"/>
                <a:ea typeface="Calibri" pitchFamily="34" charset="-122"/>
                <a:cs typeface="Calibri" pitchFamily="34" charset="-120"/>
              </a:rPr>
              <a:t>XGBoost</a:t>
            </a:r>
            <a:endParaRPr lang="en-US" sz="1800" dirty="0"/>
          </a:p>
        </p:txBody>
      </p:sp>
      <p:sp>
        <p:nvSpPr>
          <p:cNvPr id="19" name="Text 17"/>
          <p:cNvSpPr/>
          <p:nvPr/>
        </p:nvSpPr>
        <p:spPr>
          <a:xfrm>
            <a:off x="914400" y="3401568"/>
            <a:ext cx="3291840" cy="164592"/>
          </a:xfrm>
          <a:prstGeom prst="rect">
            <a:avLst/>
          </a:prstGeom>
          <a:noFill/>
          <a:ln/>
        </p:spPr>
        <p:txBody>
          <a:bodyPr wrap="square" rtlCol="0" anchor="ctr"/>
          <a:lstStyle/>
          <a:p>
            <a:pPr marL="0" indent="0">
              <a:buNone/>
            </a:pPr>
            <a:r>
              <a:rPr lang="en-US" sz="1300" i="1" dirty="0">
                <a:solidFill>
                  <a:srgbClr val="4A7C99"/>
                </a:solidFill>
                <a:latin typeface="Calibri" pitchFamily="34" charset="0"/>
                <a:ea typeface="Calibri" pitchFamily="34" charset="-122"/>
                <a:cs typeface="Calibri" pitchFamily="34" charset="-120"/>
              </a:rPr>
              <a:t>Gradient Boosting</a:t>
            </a:r>
            <a:endParaRPr lang="en-US" sz="1300" dirty="0"/>
          </a:p>
        </p:txBody>
      </p:sp>
      <p:sp>
        <p:nvSpPr>
          <p:cNvPr id="20" name="Text 18"/>
          <p:cNvSpPr/>
          <p:nvPr/>
        </p:nvSpPr>
        <p:spPr>
          <a:xfrm>
            <a:off x="914400" y="3611880"/>
            <a:ext cx="3291840" cy="384048"/>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State-of-the-art on tabular data. Built-in regularization with parallel processing.</a:t>
            </a:r>
            <a:endParaRPr lang="en-US" sz="1300" dirty="0"/>
          </a:p>
        </p:txBody>
      </p:sp>
      <p:sp>
        <p:nvSpPr>
          <p:cNvPr id="21" name="Shape 19"/>
          <p:cNvSpPr/>
          <p:nvPr/>
        </p:nvSpPr>
        <p:spPr>
          <a:xfrm>
            <a:off x="914400" y="4041648"/>
            <a:ext cx="3291840" cy="256032"/>
          </a:xfrm>
          <a:prstGeom prst="rect">
            <a:avLst/>
          </a:prstGeom>
          <a:solidFill>
            <a:srgbClr val="E8EFF5"/>
          </a:solidFill>
          <a:ln/>
        </p:spPr>
      </p:sp>
      <p:sp>
        <p:nvSpPr>
          <p:cNvPr id="22" name="Text 20"/>
          <p:cNvSpPr/>
          <p:nvPr/>
        </p:nvSpPr>
        <p:spPr>
          <a:xfrm>
            <a:off x="1005840" y="4105656"/>
            <a:ext cx="3108960" cy="128016"/>
          </a:xfrm>
          <a:prstGeom prst="rect">
            <a:avLst/>
          </a:prstGeom>
          <a:noFill/>
          <a:ln/>
        </p:spPr>
        <p:txBody>
          <a:bodyPr wrap="square" rtlCol="0" anchor="ctr"/>
          <a:lstStyle/>
          <a:p>
            <a:pPr marL="0" indent="0" algn="ctr">
              <a:buNone/>
            </a:pPr>
            <a:r>
              <a:rPr lang="en-US" sz="1100" dirty="0">
                <a:solidFill>
                  <a:srgbClr val="546E7A"/>
                </a:solidFill>
                <a:latin typeface="Calibri" pitchFamily="34" charset="0"/>
                <a:ea typeface="Calibri" pitchFamily="34" charset="-122"/>
                <a:cs typeface="Calibri" pitchFamily="34" charset="-120"/>
              </a:rPr>
              <a:t>Learning rate 0.1 • Depth 6 • Subsample 0.8</a:t>
            </a:r>
            <a:endParaRPr lang="en-US" sz="1100" dirty="0"/>
          </a:p>
        </p:txBody>
      </p:sp>
      <p:sp>
        <p:nvSpPr>
          <p:cNvPr id="23" name="Shape 21"/>
          <p:cNvSpPr/>
          <p:nvPr/>
        </p:nvSpPr>
        <p:spPr>
          <a:xfrm>
            <a:off x="4572000" y="3017520"/>
            <a:ext cx="3657600" cy="1371600"/>
          </a:xfrm>
          <a:prstGeom prst="rect">
            <a:avLst/>
          </a:prstGeom>
          <a:solidFill>
            <a:srgbClr val="F5F7FA"/>
          </a:solidFill>
          <a:ln w="25400">
            <a:solidFill>
              <a:srgbClr val="6D9BB8"/>
            </a:solidFill>
            <a:prstDash val="solid"/>
          </a:ln>
        </p:spPr>
      </p:sp>
      <p:sp>
        <p:nvSpPr>
          <p:cNvPr id="24" name="Text 22"/>
          <p:cNvSpPr/>
          <p:nvPr/>
        </p:nvSpPr>
        <p:spPr>
          <a:xfrm>
            <a:off x="4754880" y="3154680"/>
            <a:ext cx="3291840" cy="228600"/>
          </a:xfrm>
          <a:prstGeom prst="rect">
            <a:avLst/>
          </a:prstGeom>
          <a:noFill/>
          <a:ln/>
        </p:spPr>
        <p:txBody>
          <a:bodyPr wrap="square" rtlCol="0" anchor="ctr"/>
          <a:lstStyle/>
          <a:p>
            <a:pPr marL="0" indent="0">
              <a:buNone/>
            </a:pPr>
            <a:r>
              <a:rPr lang="en-US" sz="1800" b="1" dirty="0">
                <a:solidFill>
                  <a:srgbClr val="1A3A52"/>
                </a:solidFill>
                <a:latin typeface="Calibri" pitchFamily="34" charset="0"/>
                <a:ea typeface="Calibri" pitchFamily="34" charset="-122"/>
                <a:cs typeface="Calibri" pitchFamily="34" charset="-120"/>
              </a:rPr>
              <a:t>LightGBM</a:t>
            </a:r>
            <a:endParaRPr lang="en-US" sz="1800" dirty="0"/>
          </a:p>
        </p:txBody>
      </p:sp>
      <p:sp>
        <p:nvSpPr>
          <p:cNvPr id="25" name="Text 23"/>
          <p:cNvSpPr/>
          <p:nvPr/>
        </p:nvSpPr>
        <p:spPr>
          <a:xfrm>
            <a:off x="4754880" y="3401568"/>
            <a:ext cx="3291840" cy="164592"/>
          </a:xfrm>
          <a:prstGeom prst="rect">
            <a:avLst/>
          </a:prstGeom>
          <a:noFill/>
          <a:ln/>
        </p:spPr>
        <p:txBody>
          <a:bodyPr wrap="square" rtlCol="0" anchor="ctr"/>
          <a:lstStyle/>
          <a:p>
            <a:pPr marL="0" indent="0">
              <a:buNone/>
            </a:pPr>
            <a:r>
              <a:rPr lang="en-US" sz="1300" i="1" dirty="0">
                <a:solidFill>
                  <a:srgbClr val="4A7C99"/>
                </a:solidFill>
                <a:latin typeface="Calibri" pitchFamily="34" charset="0"/>
                <a:ea typeface="Calibri" pitchFamily="34" charset="-122"/>
                <a:cs typeface="Calibri" pitchFamily="34" charset="-120"/>
              </a:rPr>
              <a:t>Fast Boosting</a:t>
            </a:r>
            <a:endParaRPr lang="en-US" sz="1300" dirty="0"/>
          </a:p>
        </p:txBody>
      </p:sp>
      <p:sp>
        <p:nvSpPr>
          <p:cNvPr id="26" name="Text 24"/>
          <p:cNvSpPr/>
          <p:nvPr/>
        </p:nvSpPr>
        <p:spPr>
          <a:xfrm>
            <a:off x="4754880" y="3611880"/>
            <a:ext cx="3291840" cy="384048"/>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Fastest training with leaf-wise growth. Low memory, excellent for high dimensions.</a:t>
            </a:r>
            <a:endParaRPr lang="en-US" sz="1300" dirty="0"/>
          </a:p>
        </p:txBody>
      </p:sp>
      <p:sp>
        <p:nvSpPr>
          <p:cNvPr id="27" name="Shape 25"/>
          <p:cNvSpPr/>
          <p:nvPr/>
        </p:nvSpPr>
        <p:spPr>
          <a:xfrm>
            <a:off x="4754880" y="4041648"/>
            <a:ext cx="3291840" cy="256032"/>
          </a:xfrm>
          <a:prstGeom prst="rect">
            <a:avLst/>
          </a:prstGeom>
          <a:solidFill>
            <a:srgbClr val="E8EFF5"/>
          </a:solidFill>
          <a:ln/>
        </p:spPr>
      </p:sp>
      <p:sp>
        <p:nvSpPr>
          <p:cNvPr id="28" name="Text 26"/>
          <p:cNvSpPr/>
          <p:nvPr/>
        </p:nvSpPr>
        <p:spPr>
          <a:xfrm>
            <a:off x="4846320" y="4105656"/>
            <a:ext cx="3108960" cy="128016"/>
          </a:xfrm>
          <a:prstGeom prst="rect">
            <a:avLst/>
          </a:prstGeom>
          <a:noFill/>
          <a:ln/>
        </p:spPr>
        <p:txBody>
          <a:bodyPr wrap="square" rtlCol="0" anchor="ctr"/>
          <a:lstStyle/>
          <a:p>
            <a:pPr marL="0" indent="0" algn="ctr">
              <a:buNone/>
            </a:pPr>
            <a:r>
              <a:rPr lang="en-US" sz="1100" dirty="0">
                <a:solidFill>
                  <a:srgbClr val="546E7A"/>
                </a:solidFill>
                <a:latin typeface="Calibri" pitchFamily="34" charset="0"/>
                <a:ea typeface="Calibri" pitchFamily="34" charset="-122"/>
                <a:cs typeface="Calibri" pitchFamily="34" charset="-120"/>
              </a:rPr>
              <a:t>31 leaves • Depth 6 • Balanced weights</a:t>
            </a:r>
            <a:endParaRPr lang="en-US" sz="11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5F7FA"/>
          </a:solidFill>
          <a:ln/>
        </p:spPr>
      </p:sp>
      <p:sp>
        <p:nvSpPr>
          <p:cNvPr id="3" name="Text 1"/>
          <p:cNvSpPr/>
          <p:nvPr/>
        </p:nvSpPr>
        <p:spPr>
          <a:xfrm>
            <a:off x="548640" y="182880"/>
            <a:ext cx="8046720" cy="320040"/>
          </a:xfrm>
          <a:prstGeom prst="rect">
            <a:avLst/>
          </a:prstGeom>
          <a:noFill/>
          <a:ln/>
        </p:spPr>
        <p:txBody>
          <a:bodyPr wrap="square" rtlCol="0" anchor="ctr"/>
          <a:lstStyle/>
          <a:p>
            <a:pPr marL="0" indent="0">
              <a:buNone/>
            </a:pPr>
            <a:r>
              <a:rPr lang="en-US" sz="3600" b="1" dirty="0">
                <a:solidFill>
                  <a:srgbClr val="1A3A52"/>
                </a:solidFill>
                <a:latin typeface="Calibri" pitchFamily="34" charset="0"/>
                <a:ea typeface="Calibri" pitchFamily="34" charset="-122"/>
                <a:cs typeface="Calibri" pitchFamily="34" charset="-120"/>
              </a:rPr>
              <a:t>Training and Testing Configuration</a:t>
            </a:r>
            <a:endParaRPr lang="en-US" sz="3600" dirty="0"/>
          </a:p>
        </p:txBody>
      </p:sp>
      <p:sp>
        <p:nvSpPr>
          <p:cNvPr id="4" name="Text 2"/>
          <p:cNvSpPr/>
          <p:nvPr/>
        </p:nvSpPr>
        <p:spPr>
          <a:xfrm>
            <a:off x="731520" y="914400"/>
            <a:ext cx="7680960" cy="320040"/>
          </a:xfrm>
          <a:prstGeom prst="rect">
            <a:avLst/>
          </a:prstGeom>
          <a:noFill/>
          <a:ln/>
        </p:spPr>
        <p:txBody>
          <a:bodyPr wrap="square" rtlCol="0" anchor="ctr"/>
          <a:lstStyle/>
          <a:p>
            <a:pPr marL="0" indent="0">
              <a:buNone/>
            </a:pPr>
            <a:r>
              <a:rPr lang="en-US" sz="1500" dirty="0">
                <a:solidFill>
                  <a:srgbClr val="546E7A"/>
                </a:solidFill>
                <a:latin typeface="Calibri" pitchFamily="34" charset="0"/>
                <a:ea typeface="Calibri" pitchFamily="34" charset="-122"/>
                <a:cs typeface="Calibri" pitchFamily="34" charset="-120"/>
              </a:rPr>
              <a:t>Rigorous protocol ensuring reliable performance estimates and preventing data leakage.</a:t>
            </a:r>
            <a:endParaRPr lang="en-US" sz="1500" dirty="0"/>
          </a:p>
        </p:txBody>
      </p:sp>
      <p:sp>
        <p:nvSpPr>
          <p:cNvPr id="5" name="Shape 3"/>
          <p:cNvSpPr/>
          <p:nvPr/>
        </p:nvSpPr>
        <p:spPr>
          <a:xfrm>
            <a:off x="731520" y="1417320"/>
            <a:ext cx="3657600" cy="2971800"/>
          </a:xfrm>
          <a:prstGeom prst="rect">
            <a:avLst/>
          </a:prstGeom>
          <a:solidFill>
            <a:srgbClr val="F5F7FA"/>
          </a:solidFill>
          <a:ln w="25400">
            <a:solidFill>
              <a:srgbClr val="6D9BB8"/>
            </a:solidFill>
            <a:prstDash val="solid"/>
          </a:ln>
        </p:spPr>
      </p:sp>
      <p:sp>
        <p:nvSpPr>
          <p:cNvPr id="6" name="Shape 4"/>
          <p:cNvSpPr/>
          <p:nvPr/>
        </p:nvSpPr>
        <p:spPr>
          <a:xfrm>
            <a:off x="731520" y="1417320"/>
            <a:ext cx="3657600" cy="411480"/>
          </a:xfrm>
          <a:prstGeom prst="rect">
            <a:avLst/>
          </a:prstGeom>
          <a:solidFill>
            <a:srgbClr val="2E5266"/>
          </a:solidFill>
          <a:ln/>
        </p:spPr>
      </p:sp>
      <p:sp>
        <p:nvSpPr>
          <p:cNvPr id="7" name="Text 5"/>
          <p:cNvSpPr/>
          <p:nvPr/>
        </p:nvSpPr>
        <p:spPr>
          <a:xfrm>
            <a:off x="731520" y="1481328"/>
            <a:ext cx="3657600" cy="2743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Training</a:t>
            </a:r>
            <a:endParaRPr lang="en-US" sz="2000" dirty="0"/>
          </a:p>
        </p:txBody>
      </p:sp>
      <p:sp>
        <p:nvSpPr>
          <p:cNvPr id="8" name="Text 6"/>
          <p:cNvSpPr/>
          <p:nvPr/>
        </p:nvSpPr>
        <p:spPr>
          <a:xfrm>
            <a:off x="1005840" y="1965960"/>
            <a:ext cx="3108960" cy="22860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  Dataset: 590,540 transactions</a:t>
            </a:r>
            <a:endParaRPr lang="en-US" sz="1300" dirty="0"/>
          </a:p>
        </p:txBody>
      </p:sp>
      <p:sp>
        <p:nvSpPr>
          <p:cNvPr id="9" name="Text 7"/>
          <p:cNvSpPr/>
          <p:nvPr/>
        </p:nvSpPr>
        <p:spPr>
          <a:xfrm>
            <a:off x="1005840" y="2240280"/>
            <a:ext cx="3108960" cy="22860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  Split: 80% training (472,432)</a:t>
            </a:r>
            <a:endParaRPr lang="en-US" sz="1300" dirty="0"/>
          </a:p>
        </p:txBody>
      </p:sp>
      <p:sp>
        <p:nvSpPr>
          <p:cNvPr id="10" name="Text 8"/>
          <p:cNvSpPr/>
          <p:nvPr/>
        </p:nvSpPr>
        <p:spPr>
          <a:xfrm>
            <a:off x="1005840" y="2514600"/>
            <a:ext cx="3108960" cy="22860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  SMOTE: Applied to training only</a:t>
            </a:r>
            <a:endParaRPr lang="en-US" sz="1300" dirty="0"/>
          </a:p>
        </p:txBody>
      </p:sp>
      <p:sp>
        <p:nvSpPr>
          <p:cNvPr id="11" name="Text 9"/>
          <p:cNvSpPr/>
          <p:nvPr/>
        </p:nvSpPr>
        <p:spPr>
          <a:xfrm>
            <a:off x="1005840" y="2788920"/>
            <a:ext cx="3108960" cy="22860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  Post-SMOTE: ~66.7% legit, ~33.3% fraud</a:t>
            </a:r>
            <a:endParaRPr lang="en-US" sz="1300" dirty="0"/>
          </a:p>
        </p:txBody>
      </p:sp>
      <p:sp>
        <p:nvSpPr>
          <p:cNvPr id="12" name="Text 10"/>
          <p:cNvSpPr/>
          <p:nvPr/>
        </p:nvSpPr>
        <p:spPr>
          <a:xfrm>
            <a:off x="1005840" y="3063240"/>
            <a:ext cx="3108960" cy="22860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  Class weights: Balanced</a:t>
            </a:r>
            <a:endParaRPr lang="en-US" sz="1300" dirty="0"/>
          </a:p>
        </p:txBody>
      </p:sp>
      <p:sp>
        <p:nvSpPr>
          <p:cNvPr id="13" name="Text 11"/>
          <p:cNvSpPr/>
          <p:nvPr/>
        </p:nvSpPr>
        <p:spPr>
          <a:xfrm>
            <a:off x="1005840" y="3337560"/>
            <a:ext cx="3108960" cy="22860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  Validation: Stratified CV</a:t>
            </a:r>
            <a:endParaRPr lang="en-US" sz="1300" dirty="0"/>
          </a:p>
        </p:txBody>
      </p:sp>
      <p:sp>
        <p:nvSpPr>
          <p:cNvPr id="14" name="Text 12"/>
          <p:cNvSpPr/>
          <p:nvPr/>
        </p:nvSpPr>
        <p:spPr>
          <a:xfrm>
            <a:off x="1005840" y="3611880"/>
            <a:ext cx="3108960" cy="22860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  Scaling: StandardScaler for LR</a:t>
            </a:r>
            <a:endParaRPr lang="en-US" sz="1300" dirty="0"/>
          </a:p>
        </p:txBody>
      </p:sp>
      <p:sp>
        <p:nvSpPr>
          <p:cNvPr id="15" name="Text 13"/>
          <p:cNvSpPr/>
          <p:nvPr/>
        </p:nvSpPr>
        <p:spPr>
          <a:xfrm>
            <a:off x="1005840" y="3886200"/>
            <a:ext cx="3108960" cy="22860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  Duration: 2-3 hours total</a:t>
            </a:r>
            <a:endParaRPr lang="en-US" sz="1300" dirty="0"/>
          </a:p>
        </p:txBody>
      </p:sp>
      <p:sp>
        <p:nvSpPr>
          <p:cNvPr id="16" name="Shape 14"/>
          <p:cNvSpPr/>
          <p:nvPr/>
        </p:nvSpPr>
        <p:spPr>
          <a:xfrm>
            <a:off x="4754880" y="1417320"/>
            <a:ext cx="3657600" cy="2971800"/>
          </a:xfrm>
          <a:prstGeom prst="rect">
            <a:avLst/>
          </a:prstGeom>
          <a:solidFill>
            <a:srgbClr val="F5F7FA"/>
          </a:solidFill>
          <a:ln w="25400">
            <a:solidFill>
              <a:srgbClr val="6D9BB8"/>
            </a:solidFill>
            <a:prstDash val="solid"/>
          </a:ln>
        </p:spPr>
      </p:sp>
      <p:sp>
        <p:nvSpPr>
          <p:cNvPr id="17" name="Shape 15"/>
          <p:cNvSpPr/>
          <p:nvPr/>
        </p:nvSpPr>
        <p:spPr>
          <a:xfrm>
            <a:off x="4754880" y="1417320"/>
            <a:ext cx="3657600" cy="411480"/>
          </a:xfrm>
          <a:prstGeom prst="rect">
            <a:avLst/>
          </a:prstGeom>
          <a:solidFill>
            <a:srgbClr val="2E5266"/>
          </a:solidFill>
          <a:ln/>
        </p:spPr>
      </p:sp>
      <p:sp>
        <p:nvSpPr>
          <p:cNvPr id="18" name="Text 16"/>
          <p:cNvSpPr/>
          <p:nvPr/>
        </p:nvSpPr>
        <p:spPr>
          <a:xfrm>
            <a:off x="4754880" y="1481328"/>
            <a:ext cx="3657600" cy="2743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Testing &amp; Evaluation</a:t>
            </a:r>
            <a:endParaRPr lang="en-US" sz="2000" dirty="0"/>
          </a:p>
        </p:txBody>
      </p:sp>
      <p:sp>
        <p:nvSpPr>
          <p:cNvPr id="19" name="Text 17"/>
          <p:cNvSpPr/>
          <p:nvPr/>
        </p:nvSpPr>
        <p:spPr>
          <a:xfrm>
            <a:off x="5029200" y="1965960"/>
            <a:ext cx="3108960" cy="22860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  Test: 118,108 samples</a:t>
            </a:r>
            <a:endParaRPr lang="en-US" sz="1300" dirty="0"/>
          </a:p>
        </p:txBody>
      </p:sp>
      <p:sp>
        <p:nvSpPr>
          <p:cNvPr id="20" name="Text 18"/>
          <p:cNvSpPr/>
          <p:nvPr/>
        </p:nvSpPr>
        <p:spPr>
          <a:xfrm>
            <a:off x="5029200" y="2240280"/>
            <a:ext cx="3108960" cy="22860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  Original imbalance (3.5%)</a:t>
            </a:r>
            <a:endParaRPr lang="en-US" sz="1300" dirty="0"/>
          </a:p>
        </p:txBody>
      </p:sp>
      <p:sp>
        <p:nvSpPr>
          <p:cNvPr id="21" name="Text 19"/>
          <p:cNvSpPr/>
          <p:nvPr/>
        </p:nvSpPr>
        <p:spPr>
          <a:xfrm>
            <a:off x="5029200" y="2514600"/>
            <a:ext cx="3108960" cy="22860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  No SMOTE on test set</a:t>
            </a:r>
            <a:endParaRPr lang="en-US" sz="1300" dirty="0"/>
          </a:p>
        </p:txBody>
      </p:sp>
      <p:sp>
        <p:nvSpPr>
          <p:cNvPr id="22" name="Text 20"/>
          <p:cNvSpPr/>
          <p:nvPr/>
        </p:nvSpPr>
        <p:spPr>
          <a:xfrm>
            <a:off x="5029200" y="2926080"/>
            <a:ext cx="3108960" cy="228600"/>
          </a:xfrm>
          <a:prstGeom prst="rect">
            <a:avLst/>
          </a:prstGeom>
          <a:noFill/>
          <a:ln/>
        </p:spPr>
        <p:txBody>
          <a:bodyPr wrap="square" rtlCol="0" anchor="ctr"/>
          <a:lstStyle/>
          <a:p>
            <a:pPr marL="0" indent="0">
              <a:buNone/>
            </a:pPr>
            <a:r>
              <a:rPr lang="en-US" sz="1300" b="1" dirty="0">
                <a:solidFill>
                  <a:srgbClr val="2C3E50"/>
                </a:solidFill>
                <a:latin typeface="Calibri" pitchFamily="34" charset="0"/>
                <a:ea typeface="Calibri" pitchFamily="34" charset="-122"/>
                <a:cs typeface="Calibri" pitchFamily="34" charset="-120"/>
              </a:rPr>
              <a:t>Primary: ROC-AUC</a:t>
            </a:r>
            <a:endParaRPr lang="en-US" sz="1300" dirty="0"/>
          </a:p>
        </p:txBody>
      </p:sp>
      <p:sp>
        <p:nvSpPr>
          <p:cNvPr id="23" name="Text 21"/>
          <p:cNvSpPr/>
          <p:nvPr/>
        </p:nvSpPr>
        <p:spPr>
          <a:xfrm>
            <a:off x="5029200" y="3200400"/>
            <a:ext cx="3108960" cy="22860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Additional metrics:</a:t>
            </a:r>
            <a:endParaRPr lang="en-US" sz="1300" dirty="0"/>
          </a:p>
        </p:txBody>
      </p:sp>
      <p:sp>
        <p:nvSpPr>
          <p:cNvPr id="24" name="Text 22"/>
          <p:cNvSpPr/>
          <p:nvPr/>
        </p:nvSpPr>
        <p:spPr>
          <a:xfrm>
            <a:off x="5120640" y="3474720"/>
            <a:ext cx="3017520" cy="2286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  • Accuracy, Precision</a:t>
            </a:r>
            <a:endParaRPr lang="en-US" sz="1200" dirty="0"/>
          </a:p>
        </p:txBody>
      </p:sp>
      <p:sp>
        <p:nvSpPr>
          <p:cNvPr id="25" name="Text 23"/>
          <p:cNvSpPr/>
          <p:nvPr/>
        </p:nvSpPr>
        <p:spPr>
          <a:xfrm>
            <a:off x="5120640" y="3749040"/>
            <a:ext cx="3017520" cy="2286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  • Recall, F1 Score</a:t>
            </a:r>
            <a:endParaRPr lang="en-US" sz="12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5F7FA"/>
          </a:solidFill>
          <a:ln/>
        </p:spPr>
      </p:sp>
      <p:sp>
        <p:nvSpPr>
          <p:cNvPr id="3" name="Text 1"/>
          <p:cNvSpPr/>
          <p:nvPr/>
        </p:nvSpPr>
        <p:spPr>
          <a:xfrm>
            <a:off x="548640" y="182880"/>
            <a:ext cx="8046720" cy="320040"/>
          </a:xfrm>
          <a:prstGeom prst="rect">
            <a:avLst/>
          </a:prstGeom>
          <a:noFill/>
          <a:ln/>
        </p:spPr>
        <p:txBody>
          <a:bodyPr wrap="square" rtlCol="0" anchor="ctr"/>
          <a:lstStyle/>
          <a:p>
            <a:pPr marL="0" indent="0">
              <a:buNone/>
            </a:pPr>
            <a:r>
              <a:rPr lang="en-US" sz="3600" b="1" dirty="0">
                <a:solidFill>
                  <a:srgbClr val="1A3A52"/>
                </a:solidFill>
                <a:latin typeface="Calibri" pitchFamily="34" charset="0"/>
                <a:ea typeface="Calibri" pitchFamily="34" charset="-122"/>
                <a:cs typeface="Calibri" pitchFamily="34" charset="-120"/>
              </a:rPr>
              <a:t>Model Performance Scores</a:t>
            </a:r>
            <a:endParaRPr lang="en-US" sz="3600" dirty="0"/>
          </a:p>
        </p:txBody>
      </p:sp>
      <p:sp>
        <p:nvSpPr>
          <p:cNvPr id="4" name="Text 2"/>
          <p:cNvSpPr/>
          <p:nvPr/>
        </p:nvSpPr>
        <p:spPr>
          <a:xfrm>
            <a:off x="731520" y="914400"/>
            <a:ext cx="7680960" cy="320040"/>
          </a:xfrm>
          <a:prstGeom prst="rect">
            <a:avLst/>
          </a:prstGeom>
          <a:noFill/>
          <a:ln/>
        </p:spPr>
        <p:txBody>
          <a:bodyPr wrap="square" rtlCol="0" anchor="ctr"/>
          <a:lstStyle/>
          <a:p>
            <a:pPr marL="0" indent="0">
              <a:buNone/>
            </a:pPr>
            <a:r>
              <a:rPr lang="en-US" sz="1500" dirty="0">
                <a:solidFill>
                  <a:srgbClr val="546E7A"/>
                </a:solidFill>
                <a:latin typeface="Calibri" pitchFamily="34" charset="0"/>
                <a:ea typeface="Calibri" pitchFamily="34" charset="-122"/>
                <a:cs typeface="Calibri" pitchFamily="34" charset="-120"/>
              </a:rPr>
              <a:t>Comprehensive evaluation reveals clear performance hierarchy. Gradient boosting significantly outperforms traditional methods.</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6903720" cy="1920240"/>
        </p:xfrm>
        <a:graphic>
          <a:graphicData uri="http://schemas.openxmlformats.org/drawingml/2006/table">
            <a:tbl>
              <a:tblPr/>
              <a:tblGrid>
                <a:gridCol w="210312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gridCol w="960120">
                  <a:extLst>
                    <a:ext uri="{9D8B030D-6E8A-4147-A177-3AD203B41FA5}">
                      <a16:colId xmlns:a16="http://schemas.microsoft.com/office/drawing/2014/main" val="20005"/>
                    </a:ext>
                  </a:extLst>
                </a:gridCol>
              </a:tblGrid>
              <a:tr h="384048">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anchor="ctr">
                    <a:lnL w="12700" cap="flat" cmpd="sng" algn="ctr">
                      <a:solidFill>
                        <a:srgbClr val="6D9BB8"/>
                      </a:solidFill>
                      <a:prstDash val="solid"/>
                      <a:round/>
                      <a:headEnd type="none" w="med" len="med"/>
                      <a:tailEnd type="none" w="med" len="med"/>
                    </a:lnL>
                    <a:lnR w="12700" cap="flat" cmpd="sng" algn="ctr">
                      <a:solidFill>
                        <a:srgbClr val="6D9BB8"/>
                      </a:solidFill>
                      <a:prstDash val="solid"/>
                      <a:round/>
                      <a:headEnd type="none" w="med" len="med"/>
                      <a:tailEnd type="none" w="med" len="med"/>
                    </a:lnR>
                    <a:lnT w="12700" cap="flat" cmpd="sng" algn="ctr">
                      <a:solidFill>
                        <a:srgbClr val="6D9BB8"/>
                      </a:solidFill>
                      <a:prstDash val="solid"/>
                      <a:round/>
                      <a:headEnd type="none" w="med" len="med"/>
                      <a:tailEnd type="none" w="med" len="med"/>
                    </a:lnT>
                    <a:lnB w="12700" cap="flat" cmpd="sng" algn="ctr">
                      <a:solidFill>
                        <a:srgbClr val="6D9BB8"/>
                      </a:solidFill>
                      <a:prstDash val="solid"/>
                      <a:round/>
                      <a:headEnd type="none" w="med" len="med"/>
                      <a:tailEnd type="none" w="med" len="med"/>
                    </a:lnB>
                    <a:solidFill>
                      <a:srgbClr val="2E5266"/>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ROC-AUC</a:t>
                      </a:r>
                      <a:endParaRPr lang="en-US" sz="1400" dirty="0">
                        <a:latin typeface="Calibri" charset="0"/>
                        <a:ea typeface="Calibri" charset="0"/>
                        <a:cs typeface="Calibri" charset="0"/>
                      </a:endParaRPr>
                    </a:p>
                  </a:txBody>
                  <a:tcPr anchor="ctr">
                    <a:lnL w="12700" cap="flat" cmpd="sng" algn="ctr">
                      <a:solidFill>
                        <a:srgbClr val="6D9BB8"/>
                      </a:solidFill>
                      <a:prstDash val="solid"/>
                      <a:round/>
                      <a:headEnd type="none" w="med" len="med"/>
                      <a:tailEnd type="none" w="med" len="med"/>
                    </a:lnL>
                    <a:lnR w="12700" cap="flat" cmpd="sng" algn="ctr">
                      <a:solidFill>
                        <a:srgbClr val="6D9BB8"/>
                      </a:solidFill>
                      <a:prstDash val="solid"/>
                      <a:round/>
                      <a:headEnd type="none" w="med" len="med"/>
                      <a:tailEnd type="none" w="med" len="med"/>
                    </a:lnR>
                    <a:lnT w="12700" cap="flat" cmpd="sng" algn="ctr">
                      <a:solidFill>
                        <a:srgbClr val="6D9BB8"/>
                      </a:solidFill>
                      <a:prstDash val="solid"/>
                      <a:round/>
                      <a:headEnd type="none" w="med" len="med"/>
                      <a:tailEnd type="none" w="med" len="med"/>
                    </a:lnT>
                    <a:lnB w="12700" cap="flat" cmpd="sng" algn="ctr">
                      <a:solidFill>
                        <a:srgbClr val="6D9BB8"/>
                      </a:solidFill>
                      <a:prstDash val="solid"/>
                      <a:round/>
                      <a:headEnd type="none" w="med" len="med"/>
                      <a:tailEnd type="none" w="med" len="med"/>
                    </a:lnB>
                    <a:solidFill>
                      <a:srgbClr val="2E5266"/>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Accuracy</a:t>
                      </a:r>
                      <a:endParaRPr lang="en-US" sz="1400" dirty="0">
                        <a:latin typeface="Calibri" charset="0"/>
                        <a:ea typeface="Calibri" charset="0"/>
                        <a:cs typeface="Calibri" charset="0"/>
                      </a:endParaRPr>
                    </a:p>
                  </a:txBody>
                  <a:tcPr anchor="ctr">
                    <a:lnL w="12700" cap="flat" cmpd="sng" algn="ctr">
                      <a:solidFill>
                        <a:srgbClr val="6D9BB8"/>
                      </a:solidFill>
                      <a:prstDash val="solid"/>
                      <a:round/>
                      <a:headEnd type="none" w="med" len="med"/>
                      <a:tailEnd type="none" w="med" len="med"/>
                    </a:lnL>
                    <a:lnR w="12700" cap="flat" cmpd="sng" algn="ctr">
                      <a:solidFill>
                        <a:srgbClr val="6D9BB8"/>
                      </a:solidFill>
                      <a:prstDash val="solid"/>
                      <a:round/>
                      <a:headEnd type="none" w="med" len="med"/>
                      <a:tailEnd type="none" w="med" len="med"/>
                    </a:lnR>
                    <a:lnT w="12700" cap="flat" cmpd="sng" algn="ctr">
                      <a:solidFill>
                        <a:srgbClr val="6D9BB8"/>
                      </a:solidFill>
                      <a:prstDash val="solid"/>
                      <a:round/>
                      <a:headEnd type="none" w="med" len="med"/>
                      <a:tailEnd type="none" w="med" len="med"/>
                    </a:lnT>
                    <a:lnB w="12700" cap="flat" cmpd="sng" algn="ctr">
                      <a:solidFill>
                        <a:srgbClr val="6D9BB8"/>
                      </a:solidFill>
                      <a:prstDash val="solid"/>
                      <a:round/>
                      <a:headEnd type="none" w="med" len="med"/>
                      <a:tailEnd type="none" w="med" len="med"/>
                    </a:lnB>
                    <a:solidFill>
                      <a:srgbClr val="2E5266"/>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Precision</a:t>
                      </a:r>
                      <a:endParaRPr lang="en-US" sz="1400" dirty="0">
                        <a:latin typeface="Calibri" charset="0"/>
                        <a:ea typeface="Calibri" charset="0"/>
                        <a:cs typeface="Calibri" charset="0"/>
                      </a:endParaRPr>
                    </a:p>
                  </a:txBody>
                  <a:tcPr anchor="ctr">
                    <a:lnL w="12700" cap="flat" cmpd="sng" algn="ctr">
                      <a:solidFill>
                        <a:srgbClr val="6D9BB8"/>
                      </a:solidFill>
                      <a:prstDash val="solid"/>
                      <a:round/>
                      <a:headEnd type="none" w="med" len="med"/>
                      <a:tailEnd type="none" w="med" len="med"/>
                    </a:lnL>
                    <a:lnR w="12700" cap="flat" cmpd="sng" algn="ctr">
                      <a:solidFill>
                        <a:srgbClr val="6D9BB8"/>
                      </a:solidFill>
                      <a:prstDash val="solid"/>
                      <a:round/>
                      <a:headEnd type="none" w="med" len="med"/>
                      <a:tailEnd type="none" w="med" len="med"/>
                    </a:lnR>
                    <a:lnT w="12700" cap="flat" cmpd="sng" algn="ctr">
                      <a:solidFill>
                        <a:srgbClr val="6D9BB8"/>
                      </a:solidFill>
                      <a:prstDash val="solid"/>
                      <a:round/>
                      <a:headEnd type="none" w="med" len="med"/>
                      <a:tailEnd type="none" w="med" len="med"/>
                    </a:lnT>
                    <a:lnB w="12700" cap="flat" cmpd="sng" algn="ctr">
                      <a:solidFill>
                        <a:srgbClr val="6D9BB8"/>
                      </a:solidFill>
                      <a:prstDash val="solid"/>
                      <a:round/>
                      <a:headEnd type="none" w="med" len="med"/>
                      <a:tailEnd type="none" w="med" len="med"/>
                    </a:lnB>
                    <a:solidFill>
                      <a:srgbClr val="2E5266"/>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Recall</a:t>
                      </a:r>
                      <a:endParaRPr lang="en-US" sz="1400" dirty="0">
                        <a:latin typeface="Calibri" charset="0"/>
                        <a:ea typeface="Calibri" charset="0"/>
                        <a:cs typeface="Calibri" charset="0"/>
                      </a:endParaRPr>
                    </a:p>
                  </a:txBody>
                  <a:tcPr anchor="ctr">
                    <a:lnL w="12700" cap="flat" cmpd="sng" algn="ctr">
                      <a:solidFill>
                        <a:srgbClr val="6D9BB8"/>
                      </a:solidFill>
                      <a:prstDash val="solid"/>
                      <a:round/>
                      <a:headEnd type="none" w="med" len="med"/>
                      <a:tailEnd type="none" w="med" len="med"/>
                    </a:lnL>
                    <a:lnR w="12700" cap="flat" cmpd="sng" algn="ctr">
                      <a:solidFill>
                        <a:srgbClr val="6D9BB8"/>
                      </a:solidFill>
                      <a:prstDash val="solid"/>
                      <a:round/>
                      <a:headEnd type="none" w="med" len="med"/>
                      <a:tailEnd type="none" w="med" len="med"/>
                    </a:lnR>
                    <a:lnT w="12700" cap="flat" cmpd="sng" algn="ctr">
                      <a:solidFill>
                        <a:srgbClr val="6D9BB8"/>
                      </a:solidFill>
                      <a:prstDash val="solid"/>
                      <a:round/>
                      <a:headEnd type="none" w="med" len="med"/>
                      <a:tailEnd type="none" w="med" len="med"/>
                    </a:lnT>
                    <a:lnB w="12700" cap="flat" cmpd="sng" algn="ctr">
                      <a:solidFill>
                        <a:srgbClr val="6D9BB8"/>
                      </a:solidFill>
                      <a:prstDash val="solid"/>
                      <a:round/>
                      <a:headEnd type="none" w="med" len="med"/>
                      <a:tailEnd type="none" w="med" len="med"/>
                    </a:lnB>
                    <a:solidFill>
                      <a:srgbClr val="2E5266"/>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F1 Score</a:t>
                      </a:r>
                      <a:endParaRPr lang="en-US" sz="1400" dirty="0">
                        <a:latin typeface="Calibri" charset="0"/>
                        <a:ea typeface="Calibri" charset="0"/>
                        <a:cs typeface="Calibri" charset="0"/>
                      </a:endParaRPr>
                    </a:p>
                  </a:txBody>
                  <a:tcPr anchor="ctr">
                    <a:lnL w="12700" cap="flat" cmpd="sng" algn="ctr">
                      <a:solidFill>
                        <a:srgbClr val="6D9BB8"/>
                      </a:solidFill>
                      <a:prstDash val="solid"/>
                      <a:round/>
                      <a:headEnd type="none" w="med" len="med"/>
                      <a:tailEnd type="none" w="med" len="med"/>
                    </a:lnL>
                    <a:lnR w="12700" cap="flat" cmpd="sng" algn="ctr">
                      <a:solidFill>
                        <a:srgbClr val="6D9BB8"/>
                      </a:solidFill>
                      <a:prstDash val="solid"/>
                      <a:round/>
                      <a:headEnd type="none" w="med" len="med"/>
                      <a:tailEnd type="none" w="med" len="med"/>
                    </a:lnR>
                    <a:lnT w="12700" cap="flat" cmpd="sng" algn="ctr">
                      <a:solidFill>
                        <a:srgbClr val="6D9BB8"/>
                      </a:solidFill>
                      <a:prstDash val="solid"/>
                      <a:round/>
                      <a:headEnd type="none" w="med" len="med"/>
                      <a:tailEnd type="none" w="med" len="med"/>
                    </a:lnT>
                    <a:lnB w="12700" cap="flat" cmpd="sng" algn="ctr">
                      <a:solidFill>
                        <a:srgbClr val="6D9BB8"/>
                      </a:solidFill>
                      <a:prstDash val="solid"/>
                      <a:round/>
                      <a:headEnd type="none" w="med" len="med"/>
                      <a:tailEnd type="none" w="med" len="med"/>
                    </a:lnB>
                    <a:solidFill>
                      <a:srgbClr val="2E5266"/>
                    </a:solidFill>
                  </a:tcPr>
                </a:tc>
                <a:extLst>
                  <a:ext uri="{0D108BD9-81ED-4DB2-BD59-A6C34878D82A}">
                    <a16:rowId xmlns:a16="http://schemas.microsoft.com/office/drawing/2014/main" val="10000"/>
                  </a:ext>
                </a:extLst>
              </a:tr>
              <a:tr h="384048">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Logistic Regression</a:t>
                      </a:r>
                      <a:endParaRPr lang="en-US" sz="1300" dirty="0">
                        <a:latin typeface="Calibri" charset="0"/>
                        <a:ea typeface="Calibri" charset="0"/>
                        <a:cs typeface="Calibri" charset="0"/>
                      </a:endParaRPr>
                    </a:p>
                  </a:txBody>
                  <a:tcPr anchor="ctr">
                    <a:lnL w="12700" cap="flat" cmpd="sng" algn="ctr">
                      <a:solidFill>
                        <a:srgbClr val="6D9BB8"/>
                      </a:solidFill>
                      <a:prstDash val="solid"/>
                      <a:round/>
                      <a:headEnd type="none" w="med" len="med"/>
                      <a:tailEnd type="none" w="med" len="med"/>
                    </a:lnL>
                    <a:lnR w="12700" cap="flat" cmpd="sng" algn="ctr">
                      <a:solidFill>
                        <a:srgbClr val="6D9BB8"/>
                      </a:solidFill>
                      <a:prstDash val="solid"/>
                      <a:round/>
                      <a:headEnd type="none" w="med" len="med"/>
                      <a:tailEnd type="none" w="med" len="med"/>
                    </a:lnR>
                    <a:lnT w="12700" cap="flat" cmpd="sng" algn="ctr">
                      <a:solidFill>
                        <a:srgbClr val="6D9BB8"/>
                      </a:solidFill>
                      <a:prstDash val="solid"/>
                      <a:round/>
                      <a:headEnd type="none" w="med" len="med"/>
                      <a:tailEnd type="none" w="med" len="med"/>
                    </a:lnT>
                    <a:lnB w="12700" cap="flat" cmpd="sng" algn="ctr">
                      <a:solidFill>
                        <a:srgbClr val="6D9BB8"/>
                      </a:solidFill>
                      <a:prstDash val="solid"/>
                      <a:round/>
                      <a:headEnd type="none" w="med" len="med"/>
                      <a:tailEnd type="none" w="med" len="med"/>
                    </a:lnB>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0.8327</a:t>
                      </a:r>
                      <a:endParaRPr lang="en-US" sz="1300" dirty="0">
                        <a:latin typeface="Calibri" charset="0"/>
                        <a:ea typeface="Calibri" charset="0"/>
                        <a:cs typeface="Calibri" charset="0"/>
                      </a:endParaRPr>
                    </a:p>
                  </a:txBody>
                  <a:tcPr anchor="ctr">
                    <a:lnL w="12700" cap="flat" cmpd="sng" algn="ctr">
                      <a:solidFill>
                        <a:srgbClr val="6D9BB8"/>
                      </a:solidFill>
                      <a:prstDash val="solid"/>
                      <a:round/>
                      <a:headEnd type="none" w="med" len="med"/>
                      <a:tailEnd type="none" w="med" len="med"/>
                    </a:lnL>
                    <a:lnR w="12700" cap="flat" cmpd="sng" algn="ctr">
                      <a:solidFill>
                        <a:srgbClr val="6D9BB8"/>
                      </a:solidFill>
                      <a:prstDash val="solid"/>
                      <a:round/>
                      <a:headEnd type="none" w="med" len="med"/>
                      <a:tailEnd type="none" w="med" len="med"/>
                    </a:lnR>
                    <a:lnT w="12700" cap="flat" cmpd="sng" algn="ctr">
                      <a:solidFill>
                        <a:srgbClr val="6D9BB8"/>
                      </a:solidFill>
                      <a:prstDash val="solid"/>
                      <a:round/>
                      <a:headEnd type="none" w="med" len="med"/>
                      <a:tailEnd type="none" w="med" len="med"/>
                    </a:lnT>
                    <a:lnB w="12700" cap="flat" cmpd="sng" algn="ctr">
                      <a:solidFill>
                        <a:srgbClr val="6D9BB8"/>
                      </a:solidFill>
                      <a:prstDash val="solid"/>
                      <a:round/>
                      <a:headEnd type="none" w="med" len="med"/>
                      <a:tailEnd type="none" w="med" len="med"/>
                    </a:lnB>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0.9468</a:t>
                      </a:r>
                      <a:endParaRPr lang="en-US" sz="1300" dirty="0">
                        <a:latin typeface="Calibri" charset="0"/>
                        <a:ea typeface="Calibri" charset="0"/>
                        <a:cs typeface="Calibri" charset="0"/>
                      </a:endParaRPr>
                    </a:p>
                  </a:txBody>
                  <a:tcPr anchor="ctr">
                    <a:lnL w="12700" cap="flat" cmpd="sng" algn="ctr">
                      <a:solidFill>
                        <a:srgbClr val="6D9BB8"/>
                      </a:solidFill>
                      <a:prstDash val="solid"/>
                      <a:round/>
                      <a:headEnd type="none" w="med" len="med"/>
                      <a:tailEnd type="none" w="med" len="med"/>
                    </a:lnL>
                    <a:lnR w="12700" cap="flat" cmpd="sng" algn="ctr">
                      <a:solidFill>
                        <a:srgbClr val="6D9BB8"/>
                      </a:solidFill>
                      <a:prstDash val="solid"/>
                      <a:round/>
                      <a:headEnd type="none" w="med" len="med"/>
                      <a:tailEnd type="none" w="med" len="med"/>
                    </a:lnR>
                    <a:lnT w="12700" cap="flat" cmpd="sng" algn="ctr">
                      <a:solidFill>
                        <a:srgbClr val="6D9BB8"/>
                      </a:solidFill>
                      <a:prstDash val="solid"/>
                      <a:round/>
                      <a:headEnd type="none" w="med" len="med"/>
                      <a:tailEnd type="none" w="med" len="med"/>
                    </a:lnT>
                    <a:lnB w="12700" cap="flat" cmpd="sng" algn="ctr">
                      <a:solidFill>
                        <a:srgbClr val="6D9BB8"/>
                      </a:solidFill>
                      <a:prstDash val="solid"/>
                      <a:round/>
                      <a:headEnd type="none" w="med" len="med"/>
                      <a:tailEnd type="none" w="med" len="med"/>
                    </a:lnB>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0.3208</a:t>
                      </a:r>
                      <a:endParaRPr lang="en-US" sz="1300" dirty="0">
                        <a:latin typeface="Calibri" charset="0"/>
                        <a:ea typeface="Calibri" charset="0"/>
                        <a:cs typeface="Calibri" charset="0"/>
                      </a:endParaRPr>
                    </a:p>
                  </a:txBody>
                  <a:tcPr anchor="ctr">
                    <a:lnL w="12700" cap="flat" cmpd="sng" algn="ctr">
                      <a:solidFill>
                        <a:srgbClr val="6D9BB8"/>
                      </a:solidFill>
                      <a:prstDash val="solid"/>
                      <a:round/>
                      <a:headEnd type="none" w="med" len="med"/>
                      <a:tailEnd type="none" w="med" len="med"/>
                    </a:lnL>
                    <a:lnR w="12700" cap="flat" cmpd="sng" algn="ctr">
                      <a:solidFill>
                        <a:srgbClr val="6D9BB8"/>
                      </a:solidFill>
                      <a:prstDash val="solid"/>
                      <a:round/>
                      <a:headEnd type="none" w="med" len="med"/>
                      <a:tailEnd type="none" w="med" len="med"/>
                    </a:lnR>
                    <a:lnT w="12700" cap="flat" cmpd="sng" algn="ctr">
                      <a:solidFill>
                        <a:srgbClr val="6D9BB8"/>
                      </a:solidFill>
                      <a:prstDash val="solid"/>
                      <a:round/>
                      <a:headEnd type="none" w="med" len="med"/>
                      <a:tailEnd type="none" w="med" len="med"/>
                    </a:lnT>
                    <a:lnB w="12700" cap="flat" cmpd="sng" algn="ctr">
                      <a:solidFill>
                        <a:srgbClr val="6D9BB8"/>
                      </a:solidFill>
                      <a:prstDash val="solid"/>
                      <a:round/>
                      <a:headEnd type="none" w="med" len="med"/>
                      <a:tailEnd type="none" w="med" len="med"/>
                    </a:lnB>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0.4650</a:t>
                      </a:r>
                      <a:endParaRPr lang="en-US" sz="1300" dirty="0">
                        <a:latin typeface="Calibri" charset="0"/>
                        <a:ea typeface="Calibri" charset="0"/>
                        <a:cs typeface="Calibri" charset="0"/>
                      </a:endParaRPr>
                    </a:p>
                  </a:txBody>
                  <a:tcPr anchor="ctr">
                    <a:lnL w="12700" cap="flat" cmpd="sng" algn="ctr">
                      <a:solidFill>
                        <a:srgbClr val="6D9BB8"/>
                      </a:solidFill>
                      <a:prstDash val="solid"/>
                      <a:round/>
                      <a:headEnd type="none" w="med" len="med"/>
                      <a:tailEnd type="none" w="med" len="med"/>
                    </a:lnL>
                    <a:lnR w="12700" cap="flat" cmpd="sng" algn="ctr">
                      <a:solidFill>
                        <a:srgbClr val="6D9BB8"/>
                      </a:solidFill>
                      <a:prstDash val="solid"/>
                      <a:round/>
                      <a:headEnd type="none" w="med" len="med"/>
                      <a:tailEnd type="none" w="med" len="med"/>
                    </a:lnR>
                    <a:lnT w="12700" cap="flat" cmpd="sng" algn="ctr">
                      <a:solidFill>
                        <a:srgbClr val="6D9BB8"/>
                      </a:solidFill>
                      <a:prstDash val="solid"/>
                      <a:round/>
                      <a:headEnd type="none" w="med" len="med"/>
                      <a:tailEnd type="none" w="med" len="med"/>
                    </a:lnT>
                    <a:lnB w="12700" cap="flat" cmpd="sng" algn="ctr">
                      <a:solidFill>
                        <a:srgbClr val="6D9BB8"/>
                      </a:solidFill>
                      <a:prstDash val="solid"/>
                      <a:round/>
                      <a:headEnd type="none" w="med" len="med"/>
                      <a:tailEnd type="none" w="med" len="med"/>
                    </a:lnB>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0.3797</a:t>
                      </a:r>
                      <a:endParaRPr lang="en-US" sz="1300" dirty="0">
                        <a:latin typeface="Calibri" charset="0"/>
                        <a:ea typeface="Calibri" charset="0"/>
                        <a:cs typeface="Calibri" charset="0"/>
                      </a:endParaRPr>
                    </a:p>
                  </a:txBody>
                  <a:tcPr anchor="ctr">
                    <a:lnL w="12700" cap="flat" cmpd="sng" algn="ctr">
                      <a:solidFill>
                        <a:srgbClr val="6D9BB8"/>
                      </a:solidFill>
                      <a:prstDash val="solid"/>
                      <a:round/>
                      <a:headEnd type="none" w="med" len="med"/>
                      <a:tailEnd type="none" w="med" len="med"/>
                    </a:lnL>
                    <a:lnR w="12700" cap="flat" cmpd="sng" algn="ctr">
                      <a:solidFill>
                        <a:srgbClr val="6D9BB8"/>
                      </a:solidFill>
                      <a:prstDash val="solid"/>
                      <a:round/>
                      <a:headEnd type="none" w="med" len="med"/>
                      <a:tailEnd type="none" w="med" len="med"/>
                    </a:lnR>
                    <a:lnT w="12700" cap="flat" cmpd="sng" algn="ctr">
                      <a:solidFill>
                        <a:srgbClr val="6D9BB8"/>
                      </a:solidFill>
                      <a:prstDash val="solid"/>
                      <a:round/>
                      <a:headEnd type="none" w="med" len="med"/>
                      <a:tailEnd type="none" w="med" len="med"/>
                    </a:lnT>
                    <a:lnB w="12700" cap="flat" cmpd="sng" algn="ctr">
                      <a:solidFill>
                        <a:srgbClr val="6D9BB8"/>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Random Forest</a:t>
                      </a:r>
                      <a:endParaRPr lang="en-US" sz="1300" dirty="0">
                        <a:latin typeface="Calibri" charset="0"/>
                        <a:ea typeface="Calibri" charset="0"/>
                        <a:cs typeface="Calibri" charset="0"/>
                      </a:endParaRPr>
                    </a:p>
                  </a:txBody>
                  <a:tcPr anchor="ctr">
                    <a:lnL w="12700" cap="flat" cmpd="sng" algn="ctr">
                      <a:solidFill>
                        <a:srgbClr val="6D9BB8"/>
                      </a:solidFill>
                      <a:prstDash val="solid"/>
                      <a:round/>
                      <a:headEnd type="none" w="med" len="med"/>
                      <a:tailEnd type="none" w="med" len="med"/>
                    </a:lnL>
                    <a:lnR w="12700" cap="flat" cmpd="sng" algn="ctr">
                      <a:solidFill>
                        <a:srgbClr val="6D9BB8"/>
                      </a:solidFill>
                      <a:prstDash val="solid"/>
                      <a:round/>
                      <a:headEnd type="none" w="med" len="med"/>
                      <a:tailEnd type="none" w="med" len="med"/>
                    </a:lnR>
                    <a:lnT w="12700" cap="flat" cmpd="sng" algn="ctr">
                      <a:solidFill>
                        <a:srgbClr val="6D9BB8"/>
                      </a:solidFill>
                      <a:prstDash val="solid"/>
                      <a:round/>
                      <a:headEnd type="none" w="med" len="med"/>
                      <a:tailEnd type="none" w="med" len="med"/>
                    </a:lnT>
                    <a:lnB w="12700" cap="flat" cmpd="sng" algn="ctr">
                      <a:solidFill>
                        <a:srgbClr val="6D9BB8"/>
                      </a:solidFill>
                      <a:prstDash val="solid"/>
                      <a:round/>
                      <a:headEnd type="none" w="med" len="med"/>
                      <a:tailEnd type="none" w="med" len="med"/>
                    </a:lnB>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0.8976</a:t>
                      </a:r>
                      <a:endParaRPr lang="en-US" sz="1300" dirty="0">
                        <a:latin typeface="Calibri" charset="0"/>
                        <a:ea typeface="Calibri" charset="0"/>
                        <a:cs typeface="Calibri" charset="0"/>
                      </a:endParaRPr>
                    </a:p>
                  </a:txBody>
                  <a:tcPr anchor="ctr">
                    <a:lnL w="12700" cap="flat" cmpd="sng" algn="ctr">
                      <a:solidFill>
                        <a:srgbClr val="6D9BB8"/>
                      </a:solidFill>
                      <a:prstDash val="solid"/>
                      <a:round/>
                      <a:headEnd type="none" w="med" len="med"/>
                      <a:tailEnd type="none" w="med" len="med"/>
                    </a:lnL>
                    <a:lnR w="12700" cap="flat" cmpd="sng" algn="ctr">
                      <a:solidFill>
                        <a:srgbClr val="6D9BB8"/>
                      </a:solidFill>
                      <a:prstDash val="solid"/>
                      <a:round/>
                      <a:headEnd type="none" w="med" len="med"/>
                      <a:tailEnd type="none" w="med" len="med"/>
                    </a:lnR>
                    <a:lnT w="12700" cap="flat" cmpd="sng" algn="ctr">
                      <a:solidFill>
                        <a:srgbClr val="6D9BB8"/>
                      </a:solidFill>
                      <a:prstDash val="solid"/>
                      <a:round/>
                      <a:headEnd type="none" w="med" len="med"/>
                      <a:tailEnd type="none" w="med" len="med"/>
                    </a:lnT>
                    <a:lnB w="12700" cap="flat" cmpd="sng" algn="ctr">
                      <a:solidFill>
                        <a:srgbClr val="6D9BB8"/>
                      </a:solidFill>
                      <a:prstDash val="solid"/>
                      <a:round/>
                      <a:headEnd type="none" w="med" len="med"/>
                      <a:tailEnd type="none" w="med" len="med"/>
                    </a:lnB>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0.9730</a:t>
                      </a:r>
                      <a:endParaRPr lang="en-US" sz="1300" dirty="0">
                        <a:latin typeface="Calibri" charset="0"/>
                        <a:ea typeface="Calibri" charset="0"/>
                        <a:cs typeface="Calibri" charset="0"/>
                      </a:endParaRPr>
                    </a:p>
                  </a:txBody>
                  <a:tcPr anchor="ctr">
                    <a:lnL w="12700" cap="flat" cmpd="sng" algn="ctr">
                      <a:solidFill>
                        <a:srgbClr val="6D9BB8"/>
                      </a:solidFill>
                      <a:prstDash val="solid"/>
                      <a:round/>
                      <a:headEnd type="none" w="med" len="med"/>
                      <a:tailEnd type="none" w="med" len="med"/>
                    </a:lnL>
                    <a:lnR w="12700" cap="flat" cmpd="sng" algn="ctr">
                      <a:solidFill>
                        <a:srgbClr val="6D9BB8"/>
                      </a:solidFill>
                      <a:prstDash val="solid"/>
                      <a:round/>
                      <a:headEnd type="none" w="med" len="med"/>
                      <a:tailEnd type="none" w="med" len="med"/>
                    </a:lnR>
                    <a:lnT w="12700" cap="flat" cmpd="sng" algn="ctr">
                      <a:solidFill>
                        <a:srgbClr val="6D9BB8"/>
                      </a:solidFill>
                      <a:prstDash val="solid"/>
                      <a:round/>
                      <a:headEnd type="none" w="med" len="med"/>
                      <a:tailEnd type="none" w="med" len="med"/>
                    </a:lnT>
                    <a:lnB w="12700" cap="flat" cmpd="sng" algn="ctr">
                      <a:solidFill>
                        <a:srgbClr val="6D9BB8"/>
                      </a:solidFill>
                      <a:prstDash val="solid"/>
                      <a:round/>
                      <a:headEnd type="none" w="med" len="med"/>
                      <a:tailEnd type="none" w="med" len="med"/>
                    </a:lnB>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0.6613</a:t>
                      </a:r>
                      <a:endParaRPr lang="en-US" sz="1300" dirty="0">
                        <a:latin typeface="Calibri" charset="0"/>
                        <a:ea typeface="Calibri" charset="0"/>
                        <a:cs typeface="Calibri" charset="0"/>
                      </a:endParaRPr>
                    </a:p>
                  </a:txBody>
                  <a:tcPr anchor="ctr">
                    <a:lnL w="12700" cap="flat" cmpd="sng" algn="ctr">
                      <a:solidFill>
                        <a:srgbClr val="6D9BB8"/>
                      </a:solidFill>
                      <a:prstDash val="solid"/>
                      <a:round/>
                      <a:headEnd type="none" w="med" len="med"/>
                      <a:tailEnd type="none" w="med" len="med"/>
                    </a:lnL>
                    <a:lnR w="12700" cap="flat" cmpd="sng" algn="ctr">
                      <a:solidFill>
                        <a:srgbClr val="6D9BB8"/>
                      </a:solidFill>
                      <a:prstDash val="solid"/>
                      <a:round/>
                      <a:headEnd type="none" w="med" len="med"/>
                      <a:tailEnd type="none" w="med" len="med"/>
                    </a:lnR>
                    <a:lnT w="12700" cap="flat" cmpd="sng" algn="ctr">
                      <a:solidFill>
                        <a:srgbClr val="6D9BB8"/>
                      </a:solidFill>
                      <a:prstDash val="solid"/>
                      <a:round/>
                      <a:headEnd type="none" w="med" len="med"/>
                      <a:tailEnd type="none" w="med" len="med"/>
                    </a:lnT>
                    <a:lnB w="12700" cap="flat" cmpd="sng" algn="ctr">
                      <a:solidFill>
                        <a:srgbClr val="6D9BB8"/>
                      </a:solidFill>
                      <a:prstDash val="solid"/>
                      <a:round/>
                      <a:headEnd type="none" w="med" len="med"/>
                      <a:tailEnd type="none" w="med" len="med"/>
                    </a:lnB>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0.4687</a:t>
                      </a:r>
                      <a:endParaRPr lang="en-US" sz="1300" dirty="0">
                        <a:latin typeface="Calibri" charset="0"/>
                        <a:ea typeface="Calibri" charset="0"/>
                        <a:cs typeface="Calibri" charset="0"/>
                      </a:endParaRPr>
                    </a:p>
                  </a:txBody>
                  <a:tcPr anchor="ctr">
                    <a:lnL w="12700" cap="flat" cmpd="sng" algn="ctr">
                      <a:solidFill>
                        <a:srgbClr val="6D9BB8"/>
                      </a:solidFill>
                      <a:prstDash val="solid"/>
                      <a:round/>
                      <a:headEnd type="none" w="med" len="med"/>
                      <a:tailEnd type="none" w="med" len="med"/>
                    </a:lnL>
                    <a:lnR w="12700" cap="flat" cmpd="sng" algn="ctr">
                      <a:solidFill>
                        <a:srgbClr val="6D9BB8"/>
                      </a:solidFill>
                      <a:prstDash val="solid"/>
                      <a:round/>
                      <a:headEnd type="none" w="med" len="med"/>
                      <a:tailEnd type="none" w="med" len="med"/>
                    </a:lnR>
                    <a:lnT w="12700" cap="flat" cmpd="sng" algn="ctr">
                      <a:solidFill>
                        <a:srgbClr val="6D9BB8"/>
                      </a:solidFill>
                      <a:prstDash val="solid"/>
                      <a:round/>
                      <a:headEnd type="none" w="med" len="med"/>
                      <a:tailEnd type="none" w="med" len="med"/>
                    </a:lnT>
                    <a:lnB w="12700" cap="flat" cmpd="sng" algn="ctr">
                      <a:solidFill>
                        <a:srgbClr val="6D9BB8"/>
                      </a:solidFill>
                      <a:prstDash val="solid"/>
                      <a:round/>
                      <a:headEnd type="none" w="med" len="med"/>
                      <a:tailEnd type="none" w="med" len="med"/>
                    </a:lnB>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0.5486</a:t>
                      </a:r>
                      <a:endParaRPr lang="en-US" sz="1300" dirty="0">
                        <a:latin typeface="Calibri" charset="0"/>
                        <a:ea typeface="Calibri" charset="0"/>
                        <a:cs typeface="Calibri" charset="0"/>
                      </a:endParaRPr>
                    </a:p>
                  </a:txBody>
                  <a:tcPr anchor="ctr">
                    <a:lnL w="12700" cap="flat" cmpd="sng" algn="ctr">
                      <a:solidFill>
                        <a:srgbClr val="6D9BB8"/>
                      </a:solidFill>
                      <a:prstDash val="solid"/>
                      <a:round/>
                      <a:headEnd type="none" w="med" len="med"/>
                      <a:tailEnd type="none" w="med" len="med"/>
                    </a:lnL>
                    <a:lnR w="12700" cap="flat" cmpd="sng" algn="ctr">
                      <a:solidFill>
                        <a:srgbClr val="6D9BB8"/>
                      </a:solidFill>
                      <a:prstDash val="solid"/>
                      <a:round/>
                      <a:headEnd type="none" w="med" len="med"/>
                      <a:tailEnd type="none" w="med" len="med"/>
                    </a:lnR>
                    <a:lnT w="12700" cap="flat" cmpd="sng" algn="ctr">
                      <a:solidFill>
                        <a:srgbClr val="6D9BB8"/>
                      </a:solidFill>
                      <a:prstDash val="solid"/>
                      <a:round/>
                      <a:headEnd type="none" w="med" len="med"/>
                      <a:tailEnd type="none" w="med" len="med"/>
                    </a:lnT>
                    <a:lnB w="12700" cap="flat" cmpd="sng" algn="ctr">
                      <a:solidFill>
                        <a:srgbClr val="6D9BB8"/>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ctr">
                        <a:buNone/>
                      </a:pPr>
                      <a:r>
                        <a:rPr lang="en-US" sz="1300" b="1" dirty="0">
                          <a:solidFill>
                            <a:srgbClr val="000000"/>
                          </a:solidFill>
                          <a:latin typeface="Calibri" pitchFamily="34" charset="0"/>
                          <a:ea typeface="Calibri" pitchFamily="34" charset="-122"/>
                          <a:cs typeface="Calibri" pitchFamily="34" charset="-120"/>
                        </a:rPr>
                        <a:t>XGBoost</a:t>
                      </a:r>
                      <a:endParaRPr lang="en-US" sz="1300" dirty="0">
                        <a:latin typeface="Calibri" charset="0"/>
                        <a:ea typeface="Calibri" charset="0"/>
                        <a:cs typeface="Calibri" charset="0"/>
                      </a:endParaRPr>
                    </a:p>
                  </a:txBody>
                  <a:tcPr anchor="ctr">
                    <a:lnL w="12700" cap="flat" cmpd="sng" algn="ctr">
                      <a:solidFill>
                        <a:srgbClr val="6D9BB8"/>
                      </a:solidFill>
                      <a:prstDash val="solid"/>
                      <a:round/>
                      <a:headEnd type="none" w="med" len="med"/>
                      <a:tailEnd type="none" w="med" len="med"/>
                    </a:lnL>
                    <a:lnR w="12700" cap="flat" cmpd="sng" algn="ctr">
                      <a:solidFill>
                        <a:srgbClr val="6D9BB8"/>
                      </a:solidFill>
                      <a:prstDash val="solid"/>
                      <a:round/>
                      <a:headEnd type="none" w="med" len="med"/>
                      <a:tailEnd type="none" w="med" len="med"/>
                    </a:lnR>
                    <a:lnT w="12700" cap="flat" cmpd="sng" algn="ctr">
                      <a:solidFill>
                        <a:srgbClr val="6D9BB8"/>
                      </a:solidFill>
                      <a:prstDash val="solid"/>
                      <a:round/>
                      <a:headEnd type="none" w="med" len="med"/>
                      <a:tailEnd type="none" w="med" len="med"/>
                    </a:lnT>
                    <a:lnB w="12700" cap="flat" cmpd="sng" algn="ctr">
                      <a:solidFill>
                        <a:srgbClr val="6D9BB8"/>
                      </a:solidFill>
                      <a:prstDash val="solid"/>
                      <a:round/>
                      <a:headEnd type="none" w="med" len="med"/>
                      <a:tailEnd type="none" w="med" len="med"/>
                    </a:lnB>
                    <a:solidFill>
                      <a:srgbClr val="D4E7D7"/>
                    </a:solidFill>
                  </a:tcPr>
                </a:tc>
                <a:tc>
                  <a:txBody>
                    <a:bodyPr/>
                    <a:lstStyle/>
                    <a:p>
                      <a:pPr marL="0" indent="0" algn="ctr">
                        <a:buNone/>
                      </a:pPr>
                      <a:r>
                        <a:rPr lang="en-US" sz="1300" b="1" dirty="0">
                          <a:solidFill>
                            <a:srgbClr val="000000"/>
                          </a:solidFill>
                          <a:latin typeface="Calibri" pitchFamily="34" charset="0"/>
                          <a:ea typeface="Calibri" pitchFamily="34" charset="-122"/>
                          <a:cs typeface="Calibri" pitchFamily="34" charset="-120"/>
                        </a:rPr>
                        <a:t>0.9062</a:t>
                      </a:r>
                      <a:endParaRPr lang="en-US" sz="1300" dirty="0">
                        <a:latin typeface="Calibri" charset="0"/>
                        <a:ea typeface="Calibri" charset="0"/>
                        <a:cs typeface="Calibri" charset="0"/>
                      </a:endParaRPr>
                    </a:p>
                  </a:txBody>
                  <a:tcPr anchor="ctr">
                    <a:lnL w="12700" cap="flat" cmpd="sng" algn="ctr">
                      <a:solidFill>
                        <a:srgbClr val="6D9BB8"/>
                      </a:solidFill>
                      <a:prstDash val="solid"/>
                      <a:round/>
                      <a:headEnd type="none" w="med" len="med"/>
                      <a:tailEnd type="none" w="med" len="med"/>
                    </a:lnL>
                    <a:lnR w="12700" cap="flat" cmpd="sng" algn="ctr">
                      <a:solidFill>
                        <a:srgbClr val="6D9BB8"/>
                      </a:solidFill>
                      <a:prstDash val="solid"/>
                      <a:round/>
                      <a:headEnd type="none" w="med" len="med"/>
                      <a:tailEnd type="none" w="med" len="med"/>
                    </a:lnR>
                    <a:lnT w="12700" cap="flat" cmpd="sng" algn="ctr">
                      <a:solidFill>
                        <a:srgbClr val="6D9BB8"/>
                      </a:solidFill>
                      <a:prstDash val="solid"/>
                      <a:round/>
                      <a:headEnd type="none" w="med" len="med"/>
                      <a:tailEnd type="none" w="med" len="med"/>
                    </a:lnT>
                    <a:lnB w="12700" cap="flat" cmpd="sng" algn="ctr">
                      <a:solidFill>
                        <a:srgbClr val="6D9BB8"/>
                      </a:solidFill>
                      <a:prstDash val="solid"/>
                      <a:round/>
                      <a:headEnd type="none" w="med" len="med"/>
                      <a:tailEnd type="none" w="med" len="med"/>
                    </a:lnB>
                    <a:solidFill>
                      <a:srgbClr val="D4E7D7"/>
                    </a:solidFill>
                  </a:tcPr>
                </a:tc>
                <a:tc>
                  <a:txBody>
                    <a:bodyPr/>
                    <a:lstStyle/>
                    <a:p>
                      <a:pPr marL="0" indent="0" algn="ctr">
                        <a:buNone/>
                      </a:pPr>
                      <a:r>
                        <a:rPr lang="en-US" sz="1300" b="1" dirty="0">
                          <a:solidFill>
                            <a:srgbClr val="000000"/>
                          </a:solidFill>
                          <a:latin typeface="Calibri" pitchFamily="34" charset="0"/>
                          <a:ea typeface="Calibri" pitchFamily="34" charset="-122"/>
                          <a:cs typeface="Calibri" pitchFamily="34" charset="-120"/>
                        </a:rPr>
                        <a:t>0.9748</a:t>
                      </a:r>
                      <a:endParaRPr lang="en-US" sz="1300" dirty="0">
                        <a:latin typeface="Calibri" charset="0"/>
                        <a:ea typeface="Calibri" charset="0"/>
                        <a:cs typeface="Calibri" charset="0"/>
                      </a:endParaRPr>
                    </a:p>
                  </a:txBody>
                  <a:tcPr anchor="ctr">
                    <a:lnL w="12700" cap="flat" cmpd="sng" algn="ctr">
                      <a:solidFill>
                        <a:srgbClr val="6D9BB8"/>
                      </a:solidFill>
                      <a:prstDash val="solid"/>
                      <a:round/>
                      <a:headEnd type="none" w="med" len="med"/>
                      <a:tailEnd type="none" w="med" len="med"/>
                    </a:lnL>
                    <a:lnR w="12700" cap="flat" cmpd="sng" algn="ctr">
                      <a:solidFill>
                        <a:srgbClr val="6D9BB8"/>
                      </a:solidFill>
                      <a:prstDash val="solid"/>
                      <a:round/>
                      <a:headEnd type="none" w="med" len="med"/>
                      <a:tailEnd type="none" w="med" len="med"/>
                    </a:lnR>
                    <a:lnT w="12700" cap="flat" cmpd="sng" algn="ctr">
                      <a:solidFill>
                        <a:srgbClr val="6D9BB8"/>
                      </a:solidFill>
                      <a:prstDash val="solid"/>
                      <a:round/>
                      <a:headEnd type="none" w="med" len="med"/>
                      <a:tailEnd type="none" w="med" len="med"/>
                    </a:lnT>
                    <a:lnB w="12700" cap="flat" cmpd="sng" algn="ctr">
                      <a:solidFill>
                        <a:srgbClr val="6D9BB8"/>
                      </a:solidFill>
                      <a:prstDash val="solid"/>
                      <a:round/>
                      <a:headEnd type="none" w="med" len="med"/>
                      <a:tailEnd type="none" w="med" len="med"/>
                    </a:lnB>
                    <a:solidFill>
                      <a:srgbClr val="D4E7D7"/>
                    </a:solidFill>
                  </a:tcPr>
                </a:tc>
                <a:tc>
                  <a:txBody>
                    <a:bodyPr/>
                    <a:lstStyle/>
                    <a:p>
                      <a:pPr marL="0" indent="0" algn="ctr">
                        <a:buNone/>
                      </a:pPr>
                      <a:r>
                        <a:rPr lang="en-US" sz="1300" b="1" dirty="0">
                          <a:solidFill>
                            <a:srgbClr val="000000"/>
                          </a:solidFill>
                          <a:latin typeface="Calibri" pitchFamily="34" charset="0"/>
                          <a:ea typeface="Calibri" pitchFamily="34" charset="-122"/>
                          <a:cs typeface="Calibri" pitchFamily="34" charset="-120"/>
                        </a:rPr>
                        <a:t>0.7195</a:t>
                      </a:r>
                      <a:endParaRPr lang="en-US" sz="1300" dirty="0">
                        <a:latin typeface="Calibri" charset="0"/>
                        <a:ea typeface="Calibri" charset="0"/>
                        <a:cs typeface="Calibri" charset="0"/>
                      </a:endParaRPr>
                    </a:p>
                  </a:txBody>
                  <a:tcPr anchor="ctr">
                    <a:lnL w="12700" cap="flat" cmpd="sng" algn="ctr">
                      <a:solidFill>
                        <a:srgbClr val="6D9BB8"/>
                      </a:solidFill>
                      <a:prstDash val="solid"/>
                      <a:round/>
                      <a:headEnd type="none" w="med" len="med"/>
                      <a:tailEnd type="none" w="med" len="med"/>
                    </a:lnL>
                    <a:lnR w="12700" cap="flat" cmpd="sng" algn="ctr">
                      <a:solidFill>
                        <a:srgbClr val="6D9BB8"/>
                      </a:solidFill>
                      <a:prstDash val="solid"/>
                      <a:round/>
                      <a:headEnd type="none" w="med" len="med"/>
                      <a:tailEnd type="none" w="med" len="med"/>
                    </a:lnR>
                    <a:lnT w="12700" cap="flat" cmpd="sng" algn="ctr">
                      <a:solidFill>
                        <a:srgbClr val="6D9BB8"/>
                      </a:solidFill>
                      <a:prstDash val="solid"/>
                      <a:round/>
                      <a:headEnd type="none" w="med" len="med"/>
                      <a:tailEnd type="none" w="med" len="med"/>
                    </a:lnT>
                    <a:lnB w="12700" cap="flat" cmpd="sng" algn="ctr">
                      <a:solidFill>
                        <a:srgbClr val="6D9BB8"/>
                      </a:solidFill>
                      <a:prstDash val="solid"/>
                      <a:round/>
                      <a:headEnd type="none" w="med" len="med"/>
                      <a:tailEnd type="none" w="med" len="med"/>
                    </a:lnB>
                    <a:solidFill>
                      <a:srgbClr val="D4E7D7"/>
                    </a:solidFill>
                  </a:tcPr>
                </a:tc>
                <a:tc>
                  <a:txBody>
                    <a:bodyPr/>
                    <a:lstStyle/>
                    <a:p>
                      <a:pPr marL="0" indent="0" algn="ctr">
                        <a:buNone/>
                      </a:pPr>
                      <a:r>
                        <a:rPr lang="en-US" sz="1300" b="1" dirty="0">
                          <a:solidFill>
                            <a:srgbClr val="000000"/>
                          </a:solidFill>
                          <a:latin typeface="Calibri" pitchFamily="34" charset="0"/>
                          <a:ea typeface="Calibri" pitchFamily="34" charset="-122"/>
                          <a:cs typeface="Calibri" pitchFamily="34" charset="-120"/>
                        </a:rPr>
                        <a:t>0.4587</a:t>
                      </a:r>
                      <a:endParaRPr lang="en-US" sz="1300" dirty="0">
                        <a:latin typeface="Calibri" charset="0"/>
                        <a:ea typeface="Calibri" charset="0"/>
                        <a:cs typeface="Calibri" charset="0"/>
                      </a:endParaRPr>
                    </a:p>
                  </a:txBody>
                  <a:tcPr anchor="ctr">
                    <a:lnL w="12700" cap="flat" cmpd="sng" algn="ctr">
                      <a:solidFill>
                        <a:srgbClr val="6D9BB8"/>
                      </a:solidFill>
                      <a:prstDash val="solid"/>
                      <a:round/>
                      <a:headEnd type="none" w="med" len="med"/>
                      <a:tailEnd type="none" w="med" len="med"/>
                    </a:lnL>
                    <a:lnR w="12700" cap="flat" cmpd="sng" algn="ctr">
                      <a:solidFill>
                        <a:srgbClr val="6D9BB8"/>
                      </a:solidFill>
                      <a:prstDash val="solid"/>
                      <a:round/>
                      <a:headEnd type="none" w="med" len="med"/>
                      <a:tailEnd type="none" w="med" len="med"/>
                    </a:lnR>
                    <a:lnT w="12700" cap="flat" cmpd="sng" algn="ctr">
                      <a:solidFill>
                        <a:srgbClr val="6D9BB8"/>
                      </a:solidFill>
                      <a:prstDash val="solid"/>
                      <a:round/>
                      <a:headEnd type="none" w="med" len="med"/>
                      <a:tailEnd type="none" w="med" len="med"/>
                    </a:lnT>
                    <a:lnB w="12700" cap="flat" cmpd="sng" algn="ctr">
                      <a:solidFill>
                        <a:srgbClr val="6D9BB8"/>
                      </a:solidFill>
                      <a:prstDash val="solid"/>
                      <a:round/>
                      <a:headEnd type="none" w="med" len="med"/>
                      <a:tailEnd type="none" w="med" len="med"/>
                    </a:lnB>
                    <a:solidFill>
                      <a:srgbClr val="D4E7D7"/>
                    </a:solidFill>
                  </a:tcPr>
                </a:tc>
                <a:tc>
                  <a:txBody>
                    <a:bodyPr/>
                    <a:lstStyle/>
                    <a:p>
                      <a:pPr marL="0" indent="0" algn="ctr">
                        <a:buNone/>
                      </a:pPr>
                      <a:r>
                        <a:rPr lang="en-US" sz="1300" b="1" dirty="0">
                          <a:solidFill>
                            <a:srgbClr val="000000"/>
                          </a:solidFill>
                          <a:latin typeface="Calibri" pitchFamily="34" charset="0"/>
                          <a:ea typeface="Calibri" pitchFamily="34" charset="-122"/>
                          <a:cs typeface="Calibri" pitchFamily="34" charset="-120"/>
                        </a:rPr>
                        <a:t>0.5603</a:t>
                      </a:r>
                      <a:endParaRPr lang="en-US" sz="1300" dirty="0">
                        <a:latin typeface="Calibri" charset="0"/>
                        <a:ea typeface="Calibri" charset="0"/>
                        <a:cs typeface="Calibri" charset="0"/>
                      </a:endParaRPr>
                    </a:p>
                  </a:txBody>
                  <a:tcPr anchor="ctr">
                    <a:lnL w="12700" cap="flat" cmpd="sng" algn="ctr">
                      <a:solidFill>
                        <a:srgbClr val="6D9BB8"/>
                      </a:solidFill>
                      <a:prstDash val="solid"/>
                      <a:round/>
                      <a:headEnd type="none" w="med" len="med"/>
                      <a:tailEnd type="none" w="med" len="med"/>
                    </a:lnL>
                    <a:lnR w="12700" cap="flat" cmpd="sng" algn="ctr">
                      <a:solidFill>
                        <a:srgbClr val="6D9BB8"/>
                      </a:solidFill>
                      <a:prstDash val="solid"/>
                      <a:round/>
                      <a:headEnd type="none" w="med" len="med"/>
                      <a:tailEnd type="none" w="med" len="med"/>
                    </a:lnR>
                    <a:lnT w="12700" cap="flat" cmpd="sng" algn="ctr">
                      <a:solidFill>
                        <a:srgbClr val="6D9BB8"/>
                      </a:solidFill>
                      <a:prstDash val="solid"/>
                      <a:round/>
                      <a:headEnd type="none" w="med" len="med"/>
                      <a:tailEnd type="none" w="med" len="med"/>
                    </a:lnT>
                    <a:lnB w="12700" cap="flat" cmpd="sng" algn="ctr">
                      <a:solidFill>
                        <a:srgbClr val="6D9BB8"/>
                      </a:solidFill>
                      <a:prstDash val="solid"/>
                      <a:round/>
                      <a:headEnd type="none" w="med" len="med"/>
                      <a:tailEnd type="none" w="med" len="med"/>
                    </a:lnB>
                    <a:solidFill>
                      <a:srgbClr val="D4E7D7"/>
                    </a:solidFill>
                  </a:tcPr>
                </a:tc>
                <a:extLst>
                  <a:ext uri="{0D108BD9-81ED-4DB2-BD59-A6C34878D82A}">
                    <a16:rowId xmlns:a16="http://schemas.microsoft.com/office/drawing/2014/main" val="10003"/>
                  </a:ext>
                </a:extLst>
              </a:tr>
              <a:tr h="384048">
                <a:tc>
                  <a:txBody>
                    <a:bodyPr/>
                    <a:lstStyle/>
                    <a:p>
                      <a:pPr marL="0" indent="0" algn="ctr">
                        <a:buNone/>
                      </a:pPr>
                      <a:r>
                        <a:rPr lang="en-US" sz="1300" b="1" dirty="0">
                          <a:solidFill>
                            <a:srgbClr val="000000"/>
                          </a:solidFill>
                          <a:latin typeface="Calibri" pitchFamily="34" charset="0"/>
                          <a:ea typeface="Calibri" pitchFamily="34" charset="-122"/>
                          <a:cs typeface="Calibri" pitchFamily="34" charset="-120"/>
                        </a:rPr>
                        <a:t>LightGBM</a:t>
                      </a:r>
                      <a:endParaRPr lang="en-US" sz="1300" dirty="0">
                        <a:latin typeface="Calibri" charset="0"/>
                        <a:ea typeface="Calibri" charset="0"/>
                        <a:cs typeface="Calibri" charset="0"/>
                      </a:endParaRPr>
                    </a:p>
                  </a:txBody>
                  <a:tcPr anchor="ctr">
                    <a:lnL w="12700" cap="flat" cmpd="sng" algn="ctr">
                      <a:solidFill>
                        <a:srgbClr val="6D9BB8"/>
                      </a:solidFill>
                      <a:prstDash val="solid"/>
                      <a:round/>
                      <a:headEnd type="none" w="med" len="med"/>
                      <a:tailEnd type="none" w="med" len="med"/>
                    </a:lnL>
                    <a:lnR w="12700" cap="flat" cmpd="sng" algn="ctr">
                      <a:solidFill>
                        <a:srgbClr val="6D9BB8"/>
                      </a:solidFill>
                      <a:prstDash val="solid"/>
                      <a:round/>
                      <a:headEnd type="none" w="med" len="med"/>
                      <a:tailEnd type="none" w="med" len="med"/>
                    </a:lnR>
                    <a:lnT w="12700" cap="flat" cmpd="sng" algn="ctr">
                      <a:solidFill>
                        <a:srgbClr val="6D9BB8"/>
                      </a:solidFill>
                      <a:prstDash val="solid"/>
                      <a:round/>
                      <a:headEnd type="none" w="med" len="med"/>
                      <a:tailEnd type="none" w="med" len="med"/>
                    </a:lnT>
                    <a:lnB w="12700" cap="flat" cmpd="sng" algn="ctr">
                      <a:solidFill>
                        <a:srgbClr val="6D9BB8"/>
                      </a:solidFill>
                      <a:prstDash val="solid"/>
                      <a:round/>
                      <a:headEnd type="none" w="med" len="med"/>
                      <a:tailEnd type="none" w="med" len="med"/>
                    </a:lnB>
                    <a:solidFill>
                      <a:srgbClr val="E8EFF5"/>
                    </a:solidFill>
                  </a:tcPr>
                </a:tc>
                <a:tc>
                  <a:txBody>
                    <a:bodyPr/>
                    <a:lstStyle/>
                    <a:p>
                      <a:pPr marL="0" indent="0" algn="ctr">
                        <a:buNone/>
                      </a:pPr>
                      <a:r>
                        <a:rPr lang="en-US" sz="1300" b="1" dirty="0">
                          <a:solidFill>
                            <a:srgbClr val="000000"/>
                          </a:solidFill>
                          <a:latin typeface="Calibri" pitchFamily="34" charset="0"/>
                          <a:ea typeface="Calibri" pitchFamily="34" charset="-122"/>
                          <a:cs typeface="Calibri" pitchFamily="34" charset="-120"/>
                        </a:rPr>
                        <a:t>0.9042</a:t>
                      </a:r>
                      <a:endParaRPr lang="en-US" sz="1300" dirty="0">
                        <a:latin typeface="Calibri" charset="0"/>
                        <a:ea typeface="Calibri" charset="0"/>
                        <a:cs typeface="Calibri" charset="0"/>
                      </a:endParaRPr>
                    </a:p>
                  </a:txBody>
                  <a:tcPr anchor="ctr">
                    <a:lnL w="12700" cap="flat" cmpd="sng" algn="ctr">
                      <a:solidFill>
                        <a:srgbClr val="6D9BB8"/>
                      </a:solidFill>
                      <a:prstDash val="solid"/>
                      <a:round/>
                      <a:headEnd type="none" w="med" len="med"/>
                      <a:tailEnd type="none" w="med" len="med"/>
                    </a:lnL>
                    <a:lnR w="12700" cap="flat" cmpd="sng" algn="ctr">
                      <a:solidFill>
                        <a:srgbClr val="6D9BB8"/>
                      </a:solidFill>
                      <a:prstDash val="solid"/>
                      <a:round/>
                      <a:headEnd type="none" w="med" len="med"/>
                      <a:tailEnd type="none" w="med" len="med"/>
                    </a:lnR>
                    <a:lnT w="12700" cap="flat" cmpd="sng" algn="ctr">
                      <a:solidFill>
                        <a:srgbClr val="6D9BB8"/>
                      </a:solidFill>
                      <a:prstDash val="solid"/>
                      <a:round/>
                      <a:headEnd type="none" w="med" len="med"/>
                      <a:tailEnd type="none" w="med" len="med"/>
                    </a:lnT>
                    <a:lnB w="12700" cap="flat" cmpd="sng" algn="ctr">
                      <a:solidFill>
                        <a:srgbClr val="6D9BB8"/>
                      </a:solidFill>
                      <a:prstDash val="solid"/>
                      <a:round/>
                      <a:headEnd type="none" w="med" len="med"/>
                      <a:tailEnd type="none" w="med" len="med"/>
                    </a:lnB>
                    <a:solidFill>
                      <a:srgbClr val="E8EFF5"/>
                    </a:solidFill>
                  </a:tcPr>
                </a:tc>
                <a:tc>
                  <a:txBody>
                    <a:bodyPr/>
                    <a:lstStyle/>
                    <a:p>
                      <a:pPr marL="0" indent="0" algn="ctr">
                        <a:buNone/>
                      </a:pPr>
                      <a:r>
                        <a:rPr lang="en-US" sz="1300" b="1" dirty="0">
                          <a:solidFill>
                            <a:srgbClr val="000000"/>
                          </a:solidFill>
                          <a:latin typeface="Calibri" pitchFamily="34" charset="0"/>
                          <a:ea typeface="Calibri" pitchFamily="34" charset="-122"/>
                          <a:cs typeface="Calibri" pitchFamily="34" charset="-120"/>
                        </a:rPr>
                        <a:t>0.9738</a:t>
                      </a:r>
                      <a:endParaRPr lang="en-US" sz="1300" dirty="0">
                        <a:latin typeface="Calibri" charset="0"/>
                        <a:ea typeface="Calibri" charset="0"/>
                        <a:cs typeface="Calibri" charset="0"/>
                      </a:endParaRPr>
                    </a:p>
                  </a:txBody>
                  <a:tcPr anchor="ctr">
                    <a:lnL w="12700" cap="flat" cmpd="sng" algn="ctr">
                      <a:solidFill>
                        <a:srgbClr val="6D9BB8"/>
                      </a:solidFill>
                      <a:prstDash val="solid"/>
                      <a:round/>
                      <a:headEnd type="none" w="med" len="med"/>
                      <a:tailEnd type="none" w="med" len="med"/>
                    </a:lnL>
                    <a:lnR w="12700" cap="flat" cmpd="sng" algn="ctr">
                      <a:solidFill>
                        <a:srgbClr val="6D9BB8"/>
                      </a:solidFill>
                      <a:prstDash val="solid"/>
                      <a:round/>
                      <a:headEnd type="none" w="med" len="med"/>
                      <a:tailEnd type="none" w="med" len="med"/>
                    </a:lnR>
                    <a:lnT w="12700" cap="flat" cmpd="sng" algn="ctr">
                      <a:solidFill>
                        <a:srgbClr val="6D9BB8"/>
                      </a:solidFill>
                      <a:prstDash val="solid"/>
                      <a:round/>
                      <a:headEnd type="none" w="med" len="med"/>
                      <a:tailEnd type="none" w="med" len="med"/>
                    </a:lnT>
                    <a:lnB w="12700" cap="flat" cmpd="sng" algn="ctr">
                      <a:solidFill>
                        <a:srgbClr val="6D9BB8"/>
                      </a:solidFill>
                      <a:prstDash val="solid"/>
                      <a:round/>
                      <a:headEnd type="none" w="med" len="med"/>
                      <a:tailEnd type="none" w="med" len="med"/>
                    </a:lnB>
                    <a:solidFill>
                      <a:srgbClr val="E8EFF5"/>
                    </a:solidFill>
                  </a:tcPr>
                </a:tc>
                <a:tc>
                  <a:txBody>
                    <a:bodyPr/>
                    <a:lstStyle/>
                    <a:p>
                      <a:pPr marL="0" indent="0" algn="ctr">
                        <a:buNone/>
                      </a:pPr>
                      <a:r>
                        <a:rPr lang="en-US" sz="1300" b="1" dirty="0">
                          <a:solidFill>
                            <a:srgbClr val="000000"/>
                          </a:solidFill>
                          <a:latin typeface="Calibri" pitchFamily="34" charset="0"/>
                          <a:ea typeface="Calibri" pitchFamily="34" charset="-122"/>
                          <a:cs typeface="Calibri" pitchFamily="34" charset="-120"/>
                        </a:rPr>
                        <a:t>0.6918</a:t>
                      </a:r>
                      <a:endParaRPr lang="en-US" sz="1300" dirty="0">
                        <a:latin typeface="Calibri" charset="0"/>
                        <a:ea typeface="Calibri" charset="0"/>
                        <a:cs typeface="Calibri" charset="0"/>
                      </a:endParaRPr>
                    </a:p>
                  </a:txBody>
                  <a:tcPr anchor="ctr">
                    <a:lnL w="12700" cap="flat" cmpd="sng" algn="ctr">
                      <a:solidFill>
                        <a:srgbClr val="6D9BB8"/>
                      </a:solidFill>
                      <a:prstDash val="solid"/>
                      <a:round/>
                      <a:headEnd type="none" w="med" len="med"/>
                      <a:tailEnd type="none" w="med" len="med"/>
                    </a:lnL>
                    <a:lnR w="12700" cap="flat" cmpd="sng" algn="ctr">
                      <a:solidFill>
                        <a:srgbClr val="6D9BB8"/>
                      </a:solidFill>
                      <a:prstDash val="solid"/>
                      <a:round/>
                      <a:headEnd type="none" w="med" len="med"/>
                      <a:tailEnd type="none" w="med" len="med"/>
                    </a:lnR>
                    <a:lnT w="12700" cap="flat" cmpd="sng" algn="ctr">
                      <a:solidFill>
                        <a:srgbClr val="6D9BB8"/>
                      </a:solidFill>
                      <a:prstDash val="solid"/>
                      <a:round/>
                      <a:headEnd type="none" w="med" len="med"/>
                      <a:tailEnd type="none" w="med" len="med"/>
                    </a:lnT>
                    <a:lnB w="12700" cap="flat" cmpd="sng" algn="ctr">
                      <a:solidFill>
                        <a:srgbClr val="6D9BB8"/>
                      </a:solidFill>
                      <a:prstDash val="solid"/>
                      <a:round/>
                      <a:headEnd type="none" w="med" len="med"/>
                      <a:tailEnd type="none" w="med" len="med"/>
                    </a:lnB>
                    <a:solidFill>
                      <a:srgbClr val="E8EFF5"/>
                    </a:solidFill>
                  </a:tcPr>
                </a:tc>
                <a:tc>
                  <a:txBody>
                    <a:bodyPr/>
                    <a:lstStyle/>
                    <a:p>
                      <a:pPr marL="0" indent="0" algn="ctr">
                        <a:buNone/>
                      </a:pPr>
                      <a:r>
                        <a:rPr lang="en-US" sz="1300" b="1" dirty="0">
                          <a:solidFill>
                            <a:srgbClr val="000000"/>
                          </a:solidFill>
                          <a:latin typeface="Calibri" pitchFamily="34" charset="0"/>
                          <a:ea typeface="Calibri" pitchFamily="34" charset="-122"/>
                          <a:cs typeface="Calibri" pitchFamily="34" charset="-120"/>
                        </a:rPr>
                        <a:t>0.4529</a:t>
                      </a:r>
                      <a:endParaRPr lang="en-US" sz="1300" dirty="0">
                        <a:latin typeface="Calibri" charset="0"/>
                        <a:ea typeface="Calibri" charset="0"/>
                        <a:cs typeface="Calibri" charset="0"/>
                      </a:endParaRPr>
                    </a:p>
                  </a:txBody>
                  <a:tcPr anchor="ctr">
                    <a:lnL w="12700" cap="flat" cmpd="sng" algn="ctr">
                      <a:solidFill>
                        <a:srgbClr val="6D9BB8"/>
                      </a:solidFill>
                      <a:prstDash val="solid"/>
                      <a:round/>
                      <a:headEnd type="none" w="med" len="med"/>
                      <a:tailEnd type="none" w="med" len="med"/>
                    </a:lnL>
                    <a:lnR w="12700" cap="flat" cmpd="sng" algn="ctr">
                      <a:solidFill>
                        <a:srgbClr val="6D9BB8"/>
                      </a:solidFill>
                      <a:prstDash val="solid"/>
                      <a:round/>
                      <a:headEnd type="none" w="med" len="med"/>
                      <a:tailEnd type="none" w="med" len="med"/>
                    </a:lnR>
                    <a:lnT w="12700" cap="flat" cmpd="sng" algn="ctr">
                      <a:solidFill>
                        <a:srgbClr val="6D9BB8"/>
                      </a:solidFill>
                      <a:prstDash val="solid"/>
                      <a:round/>
                      <a:headEnd type="none" w="med" len="med"/>
                      <a:tailEnd type="none" w="med" len="med"/>
                    </a:lnT>
                    <a:lnB w="12700" cap="flat" cmpd="sng" algn="ctr">
                      <a:solidFill>
                        <a:srgbClr val="6D9BB8"/>
                      </a:solidFill>
                      <a:prstDash val="solid"/>
                      <a:round/>
                      <a:headEnd type="none" w="med" len="med"/>
                      <a:tailEnd type="none" w="med" len="med"/>
                    </a:lnB>
                    <a:solidFill>
                      <a:srgbClr val="E8EFF5"/>
                    </a:solidFill>
                  </a:tcPr>
                </a:tc>
                <a:tc>
                  <a:txBody>
                    <a:bodyPr/>
                    <a:lstStyle/>
                    <a:p>
                      <a:pPr marL="0" indent="0" algn="ctr">
                        <a:buNone/>
                      </a:pPr>
                      <a:r>
                        <a:rPr lang="en-US" sz="1300" b="1" dirty="0">
                          <a:solidFill>
                            <a:srgbClr val="000000"/>
                          </a:solidFill>
                          <a:latin typeface="Calibri" pitchFamily="34" charset="0"/>
                          <a:ea typeface="Calibri" pitchFamily="34" charset="-122"/>
                          <a:cs typeface="Calibri" pitchFamily="34" charset="-120"/>
                        </a:rPr>
                        <a:t>0.5474</a:t>
                      </a:r>
                      <a:endParaRPr lang="en-US" sz="1300" dirty="0">
                        <a:latin typeface="Calibri" charset="0"/>
                        <a:ea typeface="Calibri" charset="0"/>
                        <a:cs typeface="Calibri" charset="0"/>
                      </a:endParaRPr>
                    </a:p>
                  </a:txBody>
                  <a:tcPr anchor="ctr">
                    <a:lnL w="12700" cap="flat" cmpd="sng" algn="ctr">
                      <a:solidFill>
                        <a:srgbClr val="6D9BB8"/>
                      </a:solidFill>
                      <a:prstDash val="solid"/>
                      <a:round/>
                      <a:headEnd type="none" w="med" len="med"/>
                      <a:tailEnd type="none" w="med" len="med"/>
                    </a:lnL>
                    <a:lnR w="12700" cap="flat" cmpd="sng" algn="ctr">
                      <a:solidFill>
                        <a:srgbClr val="6D9BB8"/>
                      </a:solidFill>
                      <a:prstDash val="solid"/>
                      <a:round/>
                      <a:headEnd type="none" w="med" len="med"/>
                      <a:tailEnd type="none" w="med" len="med"/>
                    </a:lnR>
                    <a:lnT w="12700" cap="flat" cmpd="sng" algn="ctr">
                      <a:solidFill>
                        <a:srgbClr val="6D9BB8"/>
                      </a:solidFill>
                      <a:prstDash val="solid"/>
                      <a:round/>
                      <a:headEnd type="none" w="med" len="med"/>
                      <a:tailEnd type="none" w="med" len="med"/>
                    </a:lnT>
                    <a:lnB w="12700" cap="flat" cmpd="sng" algn="ctr">
                      <a:solidFill>
                        <a:srgbClr val="6D9BB8"/>
                      </a:solidFill>
                      <a:prstDash val="solid"/>
                      <a:round/>
                      <a:headEnd type="none" w="med" len="med"/>
                      <a:tailEnd type="none" w="med" len="med"/>
                    </a:lnB>
                    <a:solidFill>
                      <a:srgbClr val="E8EFF5"/>
                    </a:solidFill>
                  </a:tcPr>
                </a:tc>
                <a:extLst>
                  <a:ext uri="{0D108BD9-81ED-4DB2-BD59-A6C34878D82A}">
                    <a16:rowId xmlns:a16="http://schemas.microsoft.com/office/drawing/2014/main" val="10004"/>
                  </a:ext>
                </a:extLst>
              </a:tr>
            </a:tbl>
          </a:graphicData>
        </a:graphic>
      </p:graphicFrame>
      <p:graphicFrame>
        <p:nvGraphicFramePr>
          <p:cNvPr id="6" name="Chart 0"/>
          <p:cNvGraphicFramePr/>
          <p:nvPr/>
        </p:nvGraphicFramePr>
        <p:xfrm>
          <a:off x="1371600" y="3566160"/>
          <a:ext cx="6400800" cy="9144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5F7FA"/>
          </a:solidFill>
          <a:ln/>
        </p:spPr>
      </p:sp>
      <p:sp>
        <p:nvSpPr>
          <p:cNvPr id="3" name="Text 1"/>
          <p:cNvSpPr/>
          <p:nvPr/>
        </p:nvSpPr>
        <p:spPr>
          <a:xfrm>
            <a:off x="548640" y="182880"/>
            <a:ext cx="8046720" cy="320040"/>
          </a:xfrm>
          <a:prstGeom prst="rect">
            <a:avLst/>
          </a:prstGeom>
          <a:noFill/>
          <a:ln/>
        </p:spPr>
        <p:txBody>
          <a:bodyPr wrap="square" rtlCol="0" anchor="ctr"/>
          <a:lstStyle/>
          <a:p>
            <a:pPr marL="0" indent="0">
              <a:buNone/>
            </a:pPr>
            <a:r>
              <a:rPr lang="en-US" sz="3600" b="1" dirty="0">
                <a:solidFill>
                  <a:srgbClr val="1A3A52"/>
                </a:solidFill>
                <a:latin typeface="Calibri" pitchFamily="34" charset="0"/>
                <a:ea typeface="Calibri" pitchFamily="34" charset="-122"/>
                <a:cs typeface="Calibri" pitchFamily="34" charset="-120"/>
              </a:rPr>
              <a:t>Best Performing Model</a:t>
            </a:r>
            <a:endParaRPr lang="en-US" sz="3600" dirty="0"/>
          </a:p>
        </p:txBody>
      </p:sp>
      <p:sp>
        <p:nvSpPr>
          <p:cNvPr id="4" name="Text 2"/>
          <p:cNvSpPr/>
          <p:nvPr/>
        </p:nvSpPr>
        <p:spPr>
          <a:xfrm>
            <a:off x="731520" y="914400"/>
            <a:ext cx="7680960" cy="320040"/>
          </a:xfrm>
          <a:prstGeom prst="rect">
            <a:avLst/>
          </a:prstGeom>
          <a:noFill/>
          <a:ln/>
        </p:spPr>
        <p:txBody>
          <a:bodyPr wrap="square" rtlCol="0" anchor="ctr"/>
          <a:lstStyle/>
          <a:p>
            <a:pPr marL="0" indent="0">
              <a:buNone/>
            </a:pPr>
            <a:r>
              <a:rPr lang="en-US" sz="1500" dirty="0">
                <a:solidFill>
                  <a:srgbClr val="546E7A"/>
                </a:solidFill>
                <a:latin typeface="Calibri" pitchFamily="34" charset="0"/>
                <a:ea typeface="Calibri" pitchFamily="34" charset="-122"/>
                <a:cs typeface="Calibri" pitchFamily="34" charset="-120"/>
              </a:rPr>
              <a:t>XGBoost achieves highest ROC-AUC and best precision, making it optimal for production deployment.</a:t>
            </a:r>
            <a:endParaRPr lang="en-US" sz="1500" dirty="0"/>
          </a:p>
        </p:txBody>
      </p:sp>
      <p:sp>
        <p:nvSpPr>
          <p:cNvPr id="5" name="Shape 3"/>
          <p:cNvSpPr/>
          <p:nvPr/>
        </p:nvSpPr>
        <p:spPr>
          <a:xfrm>
            <a:off x="1828800" y="1463040"/>
            <a:ext cx="5486400" cy="822960"/>
          </a:xfrm>
          <a:prstGeom prst="rect">
            <a:avLst/>
          </a:prstGeom>
          <a:solidFill>
            <a:srgbClr val="D4E7D7"/>
          </a:solidFill>
          <a:ln w="38100">
            <a:solidFill>
              <a:srgbClr val="52796F"/>
            </a:solidFill>
            <a:prstDash val="solid"/>
          </a:ln>
        </p:spPr>
      </p:sp>
      <p:sp>
        <p:nvSpPr>
          <p:cNvPr id="6" name="Text 4"/>
          <p:cNvSpPr/>
          <p:nvPr/>
        </p:nvSpPr>
        <p:spPr>
          <a:xfrm>
            <a:off x="1828800" y="1572768"/>
            <a:ext cx="5486400" cy="274320"/>
          </a:xfrm>
          <a:prstGeom prst="rect">
            <a:avLst/>
          </a:prstGeom>
          <a:noFill/>
          <a:ln/>
        </p:spPr>
        <p:txBody>
          <a:bodyPr wrap="square" rtlCol="0" anchor="ctr"/>
          <a:lstStyle/>
          <a:p>
            <a:pPr marL="0" indent="0" algn="ctr">
              <a:buNone/>
            </a:pPr>
            <a:r>
              <a:rPr lang="en-US" sz="2400" b="1" dirty="0" err="1" smtClean="0">
                <a:solidFill>
                  <a:srgbClr val="52796F"/>
                </a:solidFill>
                <a:latin typeface="Calibri" pitchFamily="34" charset="0"/>
                <a:ea typeface="Calibri" pitchFamily="34" charset="-122"/>
                <a:cs typeface="Calibri" pitchFamily="34" charset="-120"/>
              </a:rPr>
              <a:t>XGBoost</a:t>
            </a:r>
            <a:endParaRPr lang="en-US" sz="2400" dirty="0"/>
          </a:p>
        </p:txBody>
      </p:sp>
      <p:sp>
        <p:nvSpPr>
          <p:cNvPr id="7" name="Text 5"/>
          <p:cNvSpPr/>
          <p:nvPr/>
        </p:nvSpPr>
        <p:spPr>
          <a:xfrm>
            <a:off x="1828800" y="1901952"/>
            <a:ext cx="5486400" cy="228600"/>
          </a:xfrm>
          <a:prstGeom prst="rect">
            <a:avLst/>
          </a:prstGeom>
          <a:noFill/>
          <a:ln/>
        </p:spPr>
        <p:txBody>
          <a:bodyPr wrap="square" rtlCol="0" anchor="ctr"/>
          <a:lstStyle/>
          <a:p>
            <a:pPr marL="0" indent="0" algn="ctr">
              <a:buNone/>
            </a:pPr>
            <a:r>
              <a:rPr lang="en-US" sz="1400" dirty="0">
                <a:solidFill>
                  <a:srgbClr val="2C3E50"/>
                </a:solidFill>
                <a:latin typeface="Calibri" pitchFamily="34" charset="0"/>
                <a:ea typeface="Calibri" pitchFamily="34" charset="-122"/>
                <a:cs typeface="Calibri" pitchFamily="34" charset="-120"/>
              </a:rPr>
              <a:t>ROC-AUC: 0.9062  •  Precision: 71.95%  •  F1: 0.5603</a:t>
            </a:r>
            <a:endParaRPr lang="en-US" sz="1400" dirty="0"/>
          </a:p>
        </p:txBody>
      </p:sp>
      <p:sp>
        <p:nvSpPr>
          <p:cNvPr id="8" name="Shape 6"/>
          <p:cNvSpPr/>
          <p:nvPr/>
        </p:nvSpPr>
        <p:spPr>
          <a:xfrm>
            <a:off x="731520" y="2514600"/>
            <a:ext cx="3657600" cy="1874520"/>
          </a:xfrm>
          <a:prstGeom prst="rect">
            <a:avLst/>
          </a:prstGeom>
          <a:solidFill>
            <a:srgbClr val="D4E7D7"/>
          </a:solidFill>
          <a:ln w="25400">
            <a:solidFill>
              <a:srgbClr val="52796F"/>
            </a:solidFill>
            <a:prstDash val="solid"/>
          </a:ln>
        </p:spPr>
      </p:sp>
      <p:sp>
        <p:nvSpPr>
          <p:cNvPr id="9" name="Text 7"/>
          <p:cNvSpPr/>
          <p:nvPr/>
        </p:nvSpPr>
        <p:spPr>
          <a:xfrm>
            <a:off x="1005840" y="2651760"/>
            <a:ext cx="3108960" cy="256032"/>
          </a:xfrm>
          <a:prstGeom prst="rect">
            <a:avLst/>
          </a:prstGeom>
          <a:noFill/>
          <a:ln/>
        </p:spPr>
        <p:txBody>
          <a:bodyPr wrap="square" rtlCol="0" anchor="ctr"/>
          <a:lstStyle/>
          <a:p>
            <a:pPr marL="0" indent="0">
              <a:buNone/>
            </a:pPr>
            <a:r>
              <a:rPr lang="en-US" sz="1700" b="1" dirty="0">
                <a:solidFill>
                  <a:srgbClr val="52796F"/>
                </a:solidFill>
                <a:latin typeface="Calibri" pitchFamily="34" charset="0"/>
                <a:ea typeface="Calibri" pitchFamily="34" charset="-122"/>
                <a:cs typeface="Calibri" pitchFamily="34" charset="-120"/>
              </a:rPr>
              <a:t>XGBoost Strengths</a:t>
            </a:r>
            <a:endParaRPr lang="en-US" sz="1700" dirty="0"/>
          </a:p>
        </p:txBody>
      </p:sp>
      <p:sp>
        <p:nvSpPr>
          <p:cNvPr id="10" name="Text 8"/>
          <p:cNvSpPr/>
          <p:nvPr/>
        </p:nvSpPr>
        <p:spPr>
          <a:xfrm>
            <a:off x="1097280" y="2971800"/>
            <a:ext cx="2926080" cy="22860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  Highest ROC-AUC (0.9062)</a:t>
            </a:r>
            <a:endParaRPr lang="en-US" sz="1300" dirty="0"/>
          </a:p>
        </p:txBody>
      </p:sp>
      <p:sp>
        <p:nvSpPr>
          <p:cNvPr id="11" name="Text 9"/>
          <p:cNvSpPr/>
          <p:nvPr/>
        </p:nvSpPr>
        <p:spPr>
          <a:xfrm>
            <a:off x="1097280" y="3246120"/>
            <a:ext cx="2926080" cy="22860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  Best precision (71.95%)</a:t>
            </a:r>
            <a:endParaRPr lang="en-US" sz="1300" dirty="0"/>
          </a:p>
        </p:txBody>
      </p:sp>
      <p:sp>
        <p:nvSpPr>
          <p:cNvPr id="12" name="Text 10"/>
          <p:cNvSpPr/>
          <p:nvPr/>
        </p:nvSpPr>
        <p:spPr>
          <a:xfrm>
            <a:off x="1097280" y="3520440"/>
            <a:ext cx="2926080" cy="22860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  Best F1 score (0.5603)</a:t>
            </a:r>
            <a:endParaRPr lang="en-US" sz="1300" dirty="0"/>
          </a:p>
        </p:txBody>
      </p:sp>
      <p:sp>
        <p:nvSpPr>
          <p:cNvPr id="13" name="Text 11"/>
          <p:cNvSpPr/>
          <p:nvPr/>
        </p:nvSpPr>
        <p:spPr>
          <a:xfrm>
            <a:off x="1097280" y="3794760"/>
            <a:ext cx="2926080" cy="22860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  Excellent accuracy (97.48%)</a:t>
            </a:r>
            <a:endParaRPr lang="en-US" sz="1300" dirty="0"/>
          </a:p>
        </p:txBody>
      </p:sp>
      <p:sp>
        <p:nvSpPr>
          <p:cNvPr id="14" name="Text 12"/>
          <p:cNvSpPr/>
          <p:nvPr/>
        </p:nvSpPr>
        <p:spPr>
          <a:xfrm>
            <a:off x="1097280" y="4069080"/>
            <a:ext cx="2926080" cy="22860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  Optimal for production</a:t>
            </a:r>
            <a:endParaRPr lang="en-US" sz="1300" dirty="0"/>
          </a:p>
        </p:txBody>
      </p:sp>
      <p:sp>
        <p:nvSpPr>
          <p:cNvPr id="15" name="Shape 13"/>
          <p:cNvSpPr/>
          <p:nvPr/>
        </p:nvSpPr>
        <p:spPr>
          <a:xfrm>
            <a:off x="4754880" y="2514600"/>
            <a:ext cx="3657600" cy="1874520"/>
          </a:xfrm>
          <a:prstGeom prst="rect">
            <a:avLst/>
          </a:prstGeom>
          <a:solidFill>
            <a:srgbClr val="E8EFF5"/>
          </a:solidFill>
          <a:ln w="25400">
            <a:solidFill>
              <a:srgbClr val="4A7C99"/>
            </a:solidFill>
            <a:prstDash val="solid"/>
          </a:ln>
        </p:spPr>
      </p:sp>
      <p:sp>
        <p:nvSpPr>
          <p:cNvPr id="16" name="Text 14"/>
          <p:cNvSpPr/>
          <p:nvPr/>
        </p:nvSpPr>
        <p:spPr>
          <a:xfrm>
            <a:off x="5029200" y="2651760"/>
            <a:ext cx="3108960" cy="256032"/>
          </a:xfrm>
          <a:prstGeom prst="rect">
            <a:avLst/>
          </a:prstGeom>
          <a:noFill/>
          <a:ln/>
        </p:spPr>
        <p:txBody>
          <a:bodyPr wrap="square" rtlCol="0" anchor="ctr"/>
          <a:lstStyle/>
          <a:p>
            <a:pPr marL="0" indent="0">
              <a:buNone/>
            </a:pPr>
            <a:r>
              <a:rPr lang="en-US" sz="1700" b="1" dirty="0">
                <a:solidFill>
                  <a:srgbClr val="2E5266"/>
                </a:solidFill>
                <a:latin typeface="Calibri" pitchFamily="34" charset="0"/>
                <a:ea typeface="Calibri" pitchFamily="34" charset="-122"/>
                <a:cs typeface="Calibri" pitchFamily="34" charset="-120"/>
              </a:rPr>
              <a:t>Other Models</a:t>
            </a:r>
            <a:endParaRPr lang="en-US" sz="1700" dirty="0"/>
          </a:p>
        </p:txBody>
      </p:sp>
      <p:sp>
        <p:nvSpPr>
          <p:cNvPr id="17" name="Text 15"/>
          <p:cNvSpPr/>
          <p:nvPr/>
        </p:nvSpPr>
        <p:spPr>
          <a:xfrm>
            <a:off x="5120640" y="2971800"/>
            <a:ext cx="2926080" cy="228600"/>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  LightGBM: Close 2nd (0.9042)</a:t>
            </a:r>
            <a:endParaRPr lang="en-US" sz="1300" dirty="0"/>
          </a:p>
        </p:txBody>
      </p:sp>
      <p:sp>
        <p:nvSpPr>
          <p:cNvPr id="18" name="Text 16"/>
          <p:cNvSpPr/>
          <p:nvPr/>
        </p:nvSpPr>
        <p:spPr>
          <a:xfrm>
            <a:off x="5120640" y="3246120"/>
            <a:ext cx="2926080" cy="228600"/>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  Random Forest: Best recall (46.87%)</a:t>
            </a:r>
            <a:endParaRPr lang="en-US" sz="1300" dirty="0"/>
          </a:p>
        </p:txBody>
      </p:sp>
      <p:sp>
        <p:nvSpPr>
          <p:cNvPr id="19" name="Text 17"/>
          <p:cNvSpPr/>
          <p:nvPr/>
        </p:nvSpPr>
        <p:spPr>
          <a:xfrm>
            <a:off x="5120640" y="3520440"/>
            <a:ext cx="2926080" cy="228600"/>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  Logistic Regression: Baseline</a:t>
            </a:r>
            <a:endParaRPr lang="en-US" sz="1300" dirty="0"/>
          </a:p>
        </p:txBody>
      </p:sp>
      <p:sp>
        <p:nvSpPr>
          <p:cNvPr id="20" name="Text 18"/>
          <p:cNvSpPr/>
          <p:nvPr/>
        </p:nvSpPr>
        <p:spPr>
          <a:xfrm>
            <a:off x="5120640" y="3794760"/>
            <a:ext cx="2926080" cy="228600"/>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  Trade-offs exist in precision/recall</a:t>
            </a:r>
            <a:endParaRPr lang="en-US" sz="1300" dirty="0"/>
          </a:p>
        </p:txBody>
      </p:sp>
      <p:sp>
        <p:nvSpPr>
          <p:cNvPr id="21" name="Text 19"/>
          <p:cNvSpPr/>
          <p:nvPr/>
        </p:nvSpPr>
        <p:spPr>
          <a:xfrm>
            <a:off x="5120640" y="4069080"/>
            <a:ext cx="2926080" cy="228600"/>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  Choice depends on priorities</a:t>
            </a:r>
            <a:endParaRPr lang="en-US" sz="13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5F7FA"/>
          </a:solidFill>
          <a:ln/>
        </p:spPr>
      </p:sp>
      <p:sp>
        <p:nvSpPr>
          <p:cNvPr id="3" name="Text 1"/>
          <p:cNvSpPr/>
          <p:nvPr/>
        </p:nvSpPr>
        <p:spPr>
          <a:xfrm>
            <a:off x="548640" y="182880"/>
            <a:ext cx="8046720" cy="320040"/>
          </a:xfrm>
          <a:prstGeom prst="rect">
            <a:avLst/>
          </a:prstGeom>
          <a:noFill/>
          <a:ln/>
        </p:spPr>
        <p:txBody>
          <a:bodyPr wrap="square" rtlCol="0" anchor="ctr"/>
          <a:lstStyle/>
          <a:p>
            <a:pPr marL="0" indent="0">
              <a:buNone/>
            </a:pPr>
            <a:r>
              <a:rPr lang="en-US" sz="3600" b="1" dirty="0">
                <a:solidFill>
                  <a:srgbClr val="1A3A52"/>
                </a:solidFill>
                <a:latin typeface="Calibri" pitchFamily="34" charset="0"/>
                <a:ea typeface="Calibri" pitchFamily="34" charset="-122"/>
                <a:cs typeface="Calibri" pitchFamily="34" charset="-120"/>
              </a:rPr>
              <a:t>Why XGBoost Performs Best</a:t>
            </a:r>
            <a:endParaRPr lang="en-US" sz="3600" dirty="0"/>
          </a:p>
        </p:txBody>
      </p:sp>
      <p:sp>
        <p:nvSpPr>
          <p:cNvPr id="4" name="Text 2"/>
          <p:cNvSpPr/>
          <p:nvPr/>
        </p:nvSpPr>
        <p:spPr>
          <a:xfrm>
            <a:off x="731520" y="914400"/>
            <a:ext cx="7680960" cy="320040"/>
          </a:xfrm>
          <a:prstGeom prst="rect">
            <a:avLst/>
          </a:prstGeom>
          <a:noFill/>
          <a:ln/>
        </p:spPr>
        <p:txBody>
          <a:bodyPr wrap="square" rtlCol="0" anchor="ctr"/>
          <a:lstStyle/>
          <a:p>
            <a:pPr marL="0" indent="0">
              <a:buNone/>
            </a:pPr>
            <a:r>
              <a:rPr lang="en-US" sz="1500" dirty="0">
                <a:solidFill>
                  <a:srgbClr val="546E7A"/>
                </a:solidFill>
                <a:latin typeface="Calibri" pitchFamily="34" charset="0"/>
                <a:ea typeface="Calibri" pitchFamily="34" charset="-122"/>
                <a:cs typeface="Calibri" pitchFamily="34" charset="-120"/>
              </a:rPr>
              <a:t>Five key mechanisms enable XGBoost's superior performance on fraud detection.</a:t>
            </a:r>
            <a:endParaRPr lang="en-US" sz="1500" dirty="0"/>
          </a:p>
        </p:txBody>
      </p:sp>
      <p:sp>
        <p:nvSpPr>
          <p:cNvPr id="5" name="Shape 3"/>
          <p:cNvSpPr/>
          <p:nvPr/>
        </p:nvSpPr>
        <p:spPr>
          <a:xfrm>
            <a:off x="731520" y="1417320"/>
            <a:ext cx="7680960" cy="548640"/>
          </a:xfrm>
          <a:prstGeom prst="rect">
            <a:avLst/>
          </a:prstGeom>
          <a:solidFill>
            <a:srgbClr val="F5F7FA"/>
          </a:solidFill>
          <a:ln w="12700">
            <a:solidFill>
              <a:srgbClr val="6D9BB8"/>
            </a:solidFill>
            <a:prstDash val="solid"/>
          </a:ln>
        </p:spPr>
      </p:sp>
      <p:sp>
        <p:nvSpPr>
          <p:cNvPr id="6" name="Shape 4"/>
          <p:cNvSpPr/>
          <p:nvPr/>
        </p:nvSpPr>
        <p:spPr>
          <a:xfrm>
            <a:off x="731520" y="1417320"/>
            <a:ext cx="457200" cy="548640"/>
          </a:xfrm>
          <a:prstGeom prst="rect">
            <a:avLst/>
          </a:prstGeom>
          <a:solidFill>
            <a:srgbClr val="2E5266"/>
          </a:solidFill>
          <a:ln/>
        </p:spPr>
      </p:sp>
      <p:sp>
        <p:nvSpPr>
          <p:cNvPr id="7" name="Text 5"/>
          <p:cNvSpPr/>
          <p:nvPr/>
        </p:nvSpPr>
        <p:spPr>
          <a:xfrm>
            <a:off x="731520" y="1554480"/>
            <a:ext cx="457200" cy="27432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8" name="Text 6"/>
          <p:cNvSpPr/>
          <p:nvPr/>
        </p:nvSpPr>
        <p:spPr>
          <a:xfrm>
            <a:off x="1280160" y="1508760"/>
            <a:ext cx="6949440" cy="182880"/>
          </a:xfrm>
          <a:prstGeom prst="rect">
            <a:avLst/>
          </a:prstGeom>
          <a:noFill/>
          <a:ln/>
        </p:spPr>
        <p:txBody>
          <a:bodyPr wrap="square" rtlCol="0" anchor="ctr"/>
          <a:lstStyle/>
          <a:p>
            <a:pPr marL="0" indent="0">
              <a:buNone/>
            </a:pPr>
            <a:r>
              <a:rPr lang="en-US" sz="1500" b="1" dirty="0">
                <a:solidFill>
                  <a:srgbClr val="1A3A52"/>
                </a:solidFill>
                <a:latin typeface="Calibri" pitchFamily="34" charset="0"/>
                <a:ea typeface="Calibri" pitchFamily="34" charset="-122"/>
                <a:cs typeface="Calibri" pitchFamily="34" charset="-120"/>
              </a:rPr>
              <a:t>Advanced Gradient Boosting</a:t>
            </a:r>
            <a:endParaRPr lang="en-US" sz="1500" dirty="0"/>
          </a:p>
        </p:txBody>
      </p:sp>
      <p:sp>
        <p:nvSpPr>
          <p:cNvPr id="9" name="Text 7"/>
          <p:cNvSpPr/>
          <p:nvPr/>
        </p:nvSpPr>
        <p:spPr>
          <a:xfrm>
            <a:off x="1280160" y="1719072"/>
            <a:ext cx="6949440" cy="201168"/>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Sequential tree building with gradient optimization corrects ensemble errors iteratively.</a:t>
            </a:r>
            <a:endParaRPr lang="en-US" sz="1300" dirty="0"/>
          </a:p>
        </p:txBody>
      </p:sp>
      <p:sp>
        <p:nvSpPr>
          <p:cNvPr id="10" name="Shape 8"/>
          <p:cNvSpPr/>
          <p:nvPr/>
        </p:nvSpPr>
        <p:spPr>
          <a:xfrm>
            <a:off x="731520" y="2057400"/>
            <a:ext cx="7680960" cy="548640"/>
          </a:xfrm>
          <a:prstGeom prst="rect">
            <a:avLst/>
          </a:prstGeom>
          <a:solidFill>
            <a:srgbClr val="F5F7FA"/>
          </a:solidFill>
          <a:ln w="12700">
            <a:solidFill>
              <a:srgbClr val="6D9BB8"/>
            </a:solidFill>
            <a:prstDash val="solid"/>
          </a:ln>
        </p:spPr>
      </p:sp>
      <p:sp>
        <p:nvSpPr>
          <p:cNvPr id="11" name="Shape 9"/>
          <p:cNvSpPr/>
          <p:nvPr/>
        </p:nvSpPr>
        <p:spPr>
          <a:xfrm>
            <a:off x="731520" y="2057400"/>
            <a:ext cx="457200" cy="548640"/>
          </a:xfrm>
          <a:prstGeom prst="rect">
            <a:avLst/>
          </a:prstGeom>
          <a:solidFill>
            <a:srgbClr val="2E5266"/>
          </a:solidFill>
          <a:ln/>
        </p:spPr>
      </p:sp>
      <p:sp>
        <p:nvSpPr>
          <p:cNvPr id="12" name="Text 10"/>
          <p:cNvSpPr/>
          <p:nvPr/>
        </p:nvSpPr>
        <p:spPr>
          <a:xfrm>
            <a:off x="731520" y="2194560"/>
            <a:ext cx="457200" cy="27432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3" name="Text 11"/>
          <p:cNvSpPr/>
          <p:nvPr/>
        </p:nvSpPr>
        <p:spPr>
          <a:xfrm>
            <a:off x="1280160" y="2148840"/>
            <a:ext cx="6949440" cy="182880"/>
          </a:xfrm>
          <a:prstGeom prst="rect">
            <a:avLst/>
          </a:prstGeom>
          <a:noFill/>
          <a:ln/>
        </p:spPr>
        <p:txBody>
          <a:bodyPr wrap="square" rtlCol="0" anchor="ctr"/>
          <a:lstStyle/>
          <a:p>
            <a:pPr marL="0" indent="0">
              <a:buNone/>
            </a:pPr>
            <a:r>
              <a:rPr lang="en-US" sz="1500" b="1" dirty="0">
                <a:solidFill>
                  <a:srgbClr val="1A3A52"/>
                </a:solidFill>
                <a:latin typeface="Calibri" pitchFamily="34" charset="0"/>
                <a:ea typeface="Calibri" pitchFamily="34" charset="-122"/>
                <a:cs typeface="Calibri" pitchFamily="34" charset="-120"/>
              </a:rPr>
              <a:t>Built-in Regularization</a:t>
            </a:r>
            <a:endParaRPr lang="en-US" sz="1500" dirty="0"/>
          </a:p>
        </p:txBody>
      </p:sp>
      <p:sp>
        <p:nvSpPr>
          <p:cNvPr id="14" name="Text 12"/>
          <p:cNvSpPr/>
          <p:nvPr/>
        </p:nvSpPr>
        <p:spPr>
          <a:xfrm>
            <a:off x="1280160" y="2359152"/>
            <a:ext cx="6949440" cy="201168"/>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L1/L2 regularization prevents overfitting on SMOTE data while maintaining generalization.</a:t>
            </a:r>
            <a:endParaRPr lang="en-US" sz="1300" dirty="0"/>
          </a:p>
        </p:txBody>
      </p:sp>
      <p:sp>
        <p:nvSpPr>
          <p:cNvPr id="15" name="Shape 13"/>
          <p:cNvSpPr/>
          <p:nvPr/>
        </p:nvSpPr>
        <p:spPr>
          <a:xfrm>
            <a:off x="731520" y="2697480"/>
            <a:ext cx="7680960" cy="548640"/>
          </a:xfrm>
          <a:prstGeom prst="rect">
            <a:avLst/>
          </a:prstGeom>
          <a:solidFill>
            <a:srgbClr val="F5F7FA"/>
          </a:solidFill>
          <a:ln w="12700">
            <a:solidFill>
              <a:srgbClr val="6D9BB8"/>
            </a:solidFill>
            <a:prstDash val="solid"/>
          </a:ln>
        </p:spPr>
      </p:sp>
      <p:sp>
        <p:nvSpPr>
          <p:cNvPr id="16" name="Shape 14"/>
          <p:cNvSpPr/>
          <p:nvPr/>
        </p:nvSpPr>
        <p:spPr>
          <a:xfrm>
            <a:off x="731520" y="2697480"/>
            <a:ext cx="457200" cy="548640"/>
          </a:xfrm>
          <a:prstGeom prst="rect">
            <a:avLst/>
          </a:prstGeom>
          <a:solidFill>
            <a:srgbClr val="2E5266"/>
          </a:solidFill>
          <a:ln/>
        </p:spPr>
      </p:sp>
      <p:sp>
        <p:nvSpPr>
          <p:cNvPr id="17" name="Text 15"/>
          <p:cNvSpPr/>
          <p:nvPr/>
        </p:nvSpPr>
        <p:spPr>
          <a:xfrm>
            <a:off x="731520" y="2834640"/>
            <a:ext cx="457200" cy="27432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8" name="Text 16"/>
          <p:cNvSpPr/>
          <p:nvPr/>
        </p:nvSpPr>
        <p:spPr>
          <a:xfrm>
            <a:off x="1280160" y="2788920"/>
            <a:ext cx="6949440" cy="182880"/>
          </a:xfrm>
          <a:prstGeom prst="rect">
            <a:avLst/>
          </a:prstGeom>
          <a:noFill/>
          <a:ln/>
        </p:spPr>
        <p:txBody>
          <a:bodyPr wrap="square" rtlCol="0" anchor="ctr"/>
          <a:lstStyle/>
          <a:p>
            <a:pPr marL="0" indent="0">
              <a:buNone/>
            </a:pPr>
            <a:r>
              <a:rPr lang="en-US" sz="1500" b="1" dirty="0">
                <a:solidFill>
                  <a:srgbClr val="1A3A52"/>
                </a:solidFill>
                <a:latin typeface="Calibri" pitchFamily="34" charset="0"/>
                <a:ea typeface="Calibri" pitchFamily="34" charset="-122"/>
                <a:cs typeface="Calibri" pitchFamily="34" charset="-120"/>
              </a:rPr>
              <a:t>Non-Linear Modeling</a:t>
            </a:r>
            <a:endParaRPr lang="en-US" sz="1500" dirty="0"/>
          </a:p>
        </p:txBody>
      </p:sp>
      <p:sp>
        <p:nvSpPr>
          <p:cNvPr id="19" name="Text 17"/>
          <p:cNvSpPr/>
          <p:nvPr/>
        </p:nvSpPr>
        <p:spPr>
          <a:xfrm>
            <a:off x="1280160" y="2999232"/>
            <a:ext cx="6949440" cy="201168"/>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Captures complex feature interactions that linear models miss, achieving 7.35% improvement.</a:t>
            </a:r>
            <a:endParaRPr lang="en-US" sz="1300" dirty="0"/>
          </a:p>
        </p:txBody>
      </p:sp>
      <p:sp>
        <p:nvSpPr>
          <p:cNvPr id="20" name="Shape 18"/>
          <p:cNvSpPr/>
          <p:nvPr/>
        </p:nvSpPr>
        <p:spPr>
          <a:xfrm>
            <a:off x="731520" y="3337560"/>
            <a:ext cx="7680960" cy="548640"/>
          </a:xfrm>
          <a:prstGeom prst="rect">
            <a:avLst/>
          </a:prstGeom>
          <a:solidFill>
            <a:srgbClr val="F5F7FA"/>
          </a:solidFill>
          <a:ln w="12700">
            <a:solidFill>
              <a:srgbClr val="6D9BB8"/>
            </a:solidFill>
            <a:prstDash val="solid"/>
          </a:ln>
        </p:spPr>
      </p:sp>
      <p:sp>
        <p:nvSpPr>
          <p:cNvPr id="21" name="Shape 19"/>
          <p:cNvSpPr/>
          <p:nvPr/>
        </p:nvSpPr>
        <p:spPr>
          <a:xfrm>
            <a:off x="731520" y="3337560"/>
            <a:ext cx="457200" cy="548640"/>
          </a:xfrm>
          <a:prstGeom prst="rect">
            <a:avLst/>
          </a:prstGeom>
          <a:solidFill>
            <a:srgbClr val="2E5266"/>
          </a:solidFill>
          <a:ln/>
        </p:spPr>
      </p:sp>
      <p:sp>
        <p:nvSpPr>
          <p:cNvPr id="22" name="Text 20"/>
          <p:cNvSpPr/>
          <p:nvPr/>
        </p:nvSpPr>
        <p:spPr>
          <a:xfrm>
            <a:off x="731520" y="3474720"/>
            <a:ext cx="457200" cy="27432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3" name="Text 21"/>
          <p:cNvSpPr/>
          <p:nvPr/>
        </p:nvSpPr>
        <p:spPr>
          <a:xfrm>
            <a:off x="1280160" y="3429000"/>
            <a:ext cx="6949440" cy="182880"/>
          </a:xfrm>
          <a:prstGeom prst="rect">
            <a:avLst/>
          </a:prstGeom>
          <a:noFill/>
          <a:ln/>
        </p:spPr>
        <p:txBody>
          <a:bodyPr wrap="square" rtlCol="0" anchor="ctr"/>
          <a:lstStyle/>
          <a:p>
            <a:pPr marL="0" indent="0">
              <a:buNone/>
            </a:pPr>
            <a:r>
              <a:rPr lang="en-US" sz="1500" b="1" dirty="0">
                <a:solidFill>
                  <a:srgbClr val="1A3A52"/>
                </a:solidFill>
                <a:latin typeface="Calibri" pitchFamily="34" charset="0"/>
                <a:ea typeface="Calibri" pitchFamily="34" charset="-122"/>
                <a:cs typeface="Calibri" pitchFamily="34" charset="-120"/>
              </a:rPr>
              <a:t>Missing Value Intelligence</a:t>
            </a:r>
            <a:endParaRPr lang="en-US" sz="1500" dirty="0"/>
          </a:p>
        </p:txBody>
      </p:sp>
      <p:sp>
        <p:nvSpPr>
          <p:cNvPr id="24" name="Text 22"/>
          <p:cNvSpPr/>
          <p:nvPr/>
        </p:nvSpPr>
        <p:spPr>
          <a:xfrm>
            <a:off x="1280160" y="3639312"/>
            <a:ext cx="6949440" cy="201168"/>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Learns optimal missing value directions during training, crucial for strategic missingness.</a:t>
            </a:r>
            <a:endParaRPr lang="en-US" sz="1300" dirty="0"/>
          </a:p>
        </p:txBody>
      </p:sp>
      <p:sp>
        <p:nvSpPr>
          <p:cNvPr id="25" name="Shape 23"/>
          <p:cNvSpPr/>
          <p:nvPr/>
        </p:nvSpPr>
        <p:spPr>
          <a:xfrm>
            <a:off x="731520" y="3977640"/>
            <a:ext cx="7680960" cy="548640"/>
          </a:xfrm>
          <a:prstGeom prst="rect">
            <a:avLst/>
          </a:prstGeom>
          <a:solidFill>
            <a:srgbClr val="F5F7FA"/>
          </a:solidFill>
          <a:ln w="12700">
            <a:solidFill>
              <a:srgbClr val="6D9BB8"/>
            </a:solidFill>
            <a:prstDash val="solid"/>
          </a:ln>
        </p:spPr>
      </p:sp>
      <p:sp>
        <p:nvSpPr>
          <p:cNvPr id="26" name="Shape 24"/>
          <p:cNvSpPr/>
          <p:nvPr/>
        </p:nvSpPr>
        <p:spPr>
          <a:xfrm>
            <a:off x="731520" y="3977640"/>
            <a:ext cx="457200" cy="548640"/>
          </a:xfrm>
          <a:prstGeom prst="rect">
            <a:avLst/>
          </a:prstGeom>
          <a:solidFill>
            <a:srgbClr val="2E5266"/>
          </a:solidFill>
          <a:ln/>
        </p:spPr>
      </p:sp>
      <p:sp>
        <p:nvSpPr>
          <p:cNvPr id="27" name="Text 25"/>
          <p:cNvSpPr/>
          <p:nvPr/>
        </p:nvSpPr>
        <p:spPr>
          <a:xfrm>
            <a:off x="731520" y="4114800"/>
            <a:ext cx="457200" cy="27432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28" name="Text 26"/>
          <p:cNvSpPr/>
          <p:nvPr/>
        </p:nvSpPr>
        <p:spPr>
          <a:xfrm>
            <a:off x="1280160" y="4069080"/>
            <a:ext cx="6949440" cy="182880"/>
          </a:xfrm>
          <a:prstGeom prst="rect">
            <a:avLst/>
          </a:prstGeom>
          <a:noFill/>
          <a:ln/>
        </p:spPr>
        <p:txBody>
          <a:bodyPr wrap="square" rtlCol="0" anchor="ctr"/>
          <a:lstStyle/>
          <a:p>
            <a:pPr marL="0" indent="0">
              <a:buNone/>
            </a:pPr>
            <a:r>
              <a:rPr lang="en-US" sz="1500" b="1" dirty="0">
                <a:solidFill>
                  <a:srgbClr val="1A3A52"/>
                </a:solidFill>
                <a:latin typeface="Calibri" pitchFamily="34" charset="0"/>
                <a:ea typeface="Calibri" pitchFamily="34" charset="-122"/>
                <a:cs typeface="Calibri" pitchFamily="34" charset="-120"/>
              </a:rPr>
              <a:t>Class Imbalance Handling</a:t>
            </a:r>
            <a:endParaRPr lang="en-US" sz="1500" dirty="0"/>
          </a:p>
        </p:txBody>
      </p:sp>
      <p:sp>
        <p:nvSpPr>
          <p:cNvPr id="29" name="Text 27"/>
          <p:cNvSpPr/>
          <p:nvPr/>
        </p:nvSpPr>
        <p:spPr>
          <a:xfrm>
            <a:off x="1280160" y="4279392"/>
            <a:ext cx="6949440" cy="201168"/>
          </a:xfrm>
          <a:prstGeom prst="rect">
            <a:avLst/>
          </a:prstGeom>
          <a:noFill/>
          <a:ln/>
        </p:spPr>
        <p:txBody>
          <a:bodyPr wrap="square" rtlCol="0" anchor="ctr"/>
          <a:lstStyle/>
          <a:p>
            <a:pPr marL="0" indent="0">
              <a:buNone/>
            </a:pPr>
            <a:r>
              <a:rPr lang="en-US" sz="1300" dirty="0">
                <a:solidFill>
                  <a:srgbClr val="546E7A"/>
                </a:solidFill>
                <a:latin typeface="Calibri" pitchFamily="34" charset="0"/>
                <a:ea typeface="Calibri" pitchFamily="34" charset="-122"/>
                <a:cs typeface="Calibri" pitchFamily="34" charset="-120"/>
              </a:rPr>
              <a:t>Scale-pos-weight dynamically addresses 96.5%/3.5% imbalance synergistically with SMOTE.</a:t>
            </a:r>
            <a:endParaRPr lang="en-US" sz="13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5F7FA"/>
          </a:solidFill>
          <a:ln/>
        </p:spPr>
      </p:sp>
      <p:sp>
        <p:nvSpPr>
          <p:cNvPr id="3" name="Text 1"/>
          <p:cNvSpPr/>
          <p:nvPr/>
        </p:nvSpPr>
        <p:spPr>
          <a:xfrm>
            <a:off x="548640" y="182880"/>
            <a:ext cx="8046720" cy="320040"/>
          </a:xfrm>
          <a:prstGeom prst="rect">
            <a:avLst/>
          </a:prstGeom>
          <a:noFill/>
          <a:ln/>
        </p:spPr>
        <p:txBody>
          <a:bodyPr wrap="square" rtlCol="0" anchor="ctr"/>
          <a:lstStyle/>
          <a:p>
            <a:pPr marL="0" indent="0">
              <a:buNone/>
            </a:pPr>
            <a:r>
              <a:rPr lang="en-US" sz="3600" b="1" dirty="0">
                <a:solidFill>
                  <a:srgbClr val="1A3A52"/>
                </a:solidFill>
                <a:latin typeface="Calibri" pitchFamily="34" charset="0"/>
                <a:ea typeface="Calibri" pitchFamily="34" charset="-122"/>
                <a:cs typeface="Calibri" pitchFamily="34" charset="-120"/>
              </a:rPr>
              <a:t>SQL Database Analytics</a:t>
            </a:r>
            <a:endParaRPr lang="en-US" sz="3600" dirty="0"/>
          </a:p>
        </p:txBody>
      </p:sp>
      <p:sp>
        <p:nvSpPr>
          <p:cNvPr id="4" name="Text 2"/>
          <p:cNvSpPr/>
          <p:nvPr/>
        </p:nvSpPr>
        <p:spPr>
          <a:xfrm>
            <a:off x="731520" y="914400"/>
            <a:ext cx="7680960" cy="320040"/>
          </a:xfrm>
          <a:prstGeom prst="rect">
            <a:avLst/>
          </a:prstGeom>
          <a:noFill/>
          <a:ln/>
        </p:spPr>
        <p:txBody>
          <a:bodyPr wrap="square" rtlCol="0" anchor="ctr"/>
          <a:lstStyle/>
          <a:p>
            <a:pPr marL="0" indent="0">
              <a:buNone/>
            </a:pPr>
            <a:r>
              <a:rPr lang="en-US" sz="1500" dirty="0">
                <a:solidFill>
                  <a:srgbClr val="546E7A"/>
                </a:solidFill>
                <a:latin typeface="Calibri" pitchFamily="34" charset="0"/>
                <a:ea typeface="Calibri" pitchFamily="34" charset="-122"/>
                <a:cs typeface="Calibri" pitchFamily="34" charset="-120"/>
              </a:rPr>
              <a:t>Comprehensive SQL infrastructure with 10 analytical reports providing actionable fraud insights.</a:t>
            </a:r>
            <a:endParaRPr lang="en-US" sz="1500" dirty="0"/>
          </a:p>
        </p:txBody>
      </p:sp>
      <p:sp>
        <p:nvSpPr>
          <p:cNvPr id="5" name="Text 3"/>
          <p:cNvSpPr/>
          <p:nvPr/>
        </p:nvSpPr>
        <p:spPr>
          <a:xfrm>
            <a:off x="731520" y="1371600"/>
            <a:ext cx="3657600" cy="228600"/>
          </a:xfrm>
          <a:prstGeom prst="rect">
            <a:avLst/>
          </a:prstGeom>
          <a:noFill/>
          <a:ln/>
        </p:spPr>
        <p:txBody>
          <a:bodyPr wrap="square" rtlCol="0" anchor="ctr"/>
          <a:lstStyle/>
          <a:p>
            <a:pPr marL="0" indent="0">
              <a:buNone/>
            </a:pPr>
            <a:r>
              <a:rPr lang="en-US" sz="1600" b="1" dirty="0">
                <a:solidFill>
                  <a:srgbClr val="1A3A52"/>
                </a:solidFill>
                <a:latin typeface="Calibri" pitchFamily="34" charset="0"/>
                <a:ea typeface="Calibri" pitchFamily="34" charset="-122"/>
                <a:cs typeface="Calibri" pitchFamily="34" charset="-120"/>
              </a:rPr>
              <a:t>Database Schema</a:t>
            </a:r>
            <a:endParaRPr lang="en-US" sz="1600" dirty="0"/>
          </a:p>
        </p:txBody>
      </p:sp>
      <p:sp>
        <p:nvSpPr>
          <p:cNvPr id="6" name="Shape 4"/>
          <p:cNvSpPr/>
          <p:nvPr/>
        </p:nvSpPr>
        <p:spPr>
          <a:xfrm>
            <a:off x="731520" y="1645920"/>
            <a:ext cx="3657600" cy="914400"/>
          </a:xfrm>
          <a:prstGeom prst="rect">
            <a:avLst/>
          </a:prstGeom>
          <a:solidFill>
            <a:srgbClr val="F5F7FA"/>
          </a:solidFill>
          <a:ln w="12700">
            <a:solidFill>
              <a:srgbClr val="6D9BB8"/>
            </a:solidFill>
            <a:prstDash val="solid"/>
          </a:ln>
        </p:spPr>
      </p:sp>
      <p:sp>
        <p:nvSpPr>
          <p:cNvPr id="7" name="Text 5"/>
          <p:cNvSpPr/>
          <p:nvPr/>
        </p:nvSpPr>
        <p:spPr>
          <a:xfrm>
            <a:off x="914400" y="1755648"/>
            <a:ext cx="3291840" cy="68580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  Customers: 14,524 unique</a:t>
            </a:r>
            <a:endParaRPr lang="en-US" sz="1300" dirty="0"/>
          </a:p>
          <a:p>
            <a:pPr marL="0" indent="0">
              <a:buNone/>
            </a:pPr>
            <a:r>
              <a:rPr lang="en-US" sz="1300" dirty="0">
                <a:solidFill>
                  <a:srgbClr val="2C3E50"/>
                </a:solidFill>
                <a:latin typeface="Calibri" pitchFamily="34" charset="0"/>
                <a:ea typeface="Calibri" pitchFamily="34" charset="-122"/>
                <a:cs typeface="Calibri" pitchFamily="34" charset="-120"/>
              </a:rPr>
              <a:t>•  Transactions: 590,540 records</a:t>
            </a:r>
            <a:endParaRPr lang="en-US" sz="1300" dirty="0"/>
          </a:p>
          <a:p>
            <a:pPr marL="0" indent="0">
              <a:buNone/>
            </a:pPr>
            <a:r>
              <a:rPr lang="en-US" sz="1300" dirty="0">
                <a:solidFill>
                  <a:srgbClr val="2C3E50"/>
                </a:solidFill>
                <a:latin typeface="Calibri" pitchFamily="34" charset="0"/>
                <a:ea typeface="Calibri" pitchFamily="34" charset="-122"/>
                <a:cs typeface="Calibri" pitchFamily="34" charset="-120"/>
              </a:rPr>
              <a:t>•  Model predictions: All 4 models</a:t>
            </a:r>
            <a:endParaRPr lang="en-US" sz="1300" dirty="0"/>
          </a:p>
          <a:p>
            <a:pPr marL="0" indent="0">
              <a:buNone/>
            </a:pPr>
            <a:r>
              <a:rPr lang="en-US" sz="1300" dirty="0">
                <a:solidFill>
                  <a:srgbClr val="2C3E50"/>
                </a:solidFill>
                <a:latin typeface="Calibri" pitchFamily="34" charset="0"/>
                <a:ea typeface="Calibri" pitchFamily="34" charset="-122"/>
                <a:cs typeface="Calibri" pitchFamily="34" charset="-120"/>
              </a:rPr>
              <a:t>•  Performance metrics: Stored</a:t>
            </a:r>
            <a:endParaRPr lang="en-US" sz="1300" dirty="0"/>
          </a:p>
        </p:txBody>
      </p:sp>
      <p:sp>
        <p:nvSpPr>
          <p:cNvPr id="8" name="Text 6"/>
          <p:cNvSpPr/>
          <p:nvPr/>
        </p:nvSpPr>
        <p:spPr>
          <a:xfrm>
            <a:off x="4754880" y="1371600"/>
            <a:ext cx="3657600" cy="228600"/>
          </a:xfrm>
          <a:prstGeom prst="rect">
            <a:avLst/>
          </a:prstGeom>
          <a:noFill/>
          <a:ln/>
        </p:spPr>
        <p:txBody>
          <a:bodyPr wrap="square" rtlCol="0" anchor="ctr"/>
          <a:lstStyle/>
          <a:p>
            <a:pPr marL="0" indent="0">
              <a:buNone/>
            </a:pPr>
            <a:r>
              <a:rPr lang="en-US" sz="1600" b="1" dirty="0">
                <a:solidFill>
                  <a:srgbClr val="1A3A52"/>
                </a:solidFill>
                <a:latin typeface="Calibri" pitchFamily="34" charset="0"/>
                <a:ea typeface="Calibri" pitchFamily="34" charset="-122"/>
                <a:cs typeface="Calibri" pitchFamily="34" charset="-120"/>
              </a:rPr>
              <a:t>Key Findings from SQL Reports</a:t>
            </a:r>
            <a:endParaRPr lang="en-US" sz="1600" dirty="0"/>
          </a:p>
        </p:txBody>
      </p:sp>
      <p:sp>
        <p:nvSpPr>
          <p:cNvPr id="9" name="Shape 7"/>
          <p:cNvSpPr/>
          <p:nvPr/>
        </p:nvSpPr>
        <p:spPr>
          <a:xfrm>
            <a:off x="4754880" y="1645920"/>
            <a:ext cx="3657600" cy="914400"/>
          </a:xfrm>
          <a:prstGeom prst="rect">
            <a:avLst/>
          </a:prstGeom>
          <a:solidFill>
            <a:srgbClr val="FFF8E7"/>
          </a:solidFill>
          <a:ln w="25400">
            <a:solidFill>
              <a:srgbClr val="D4A574"/>
            </a:solidFill>
            <a:prstDash val="solid"/>
          </a:ln>
        </p:spPr>
      </p:sp>
      <p:sp>
        <p:nvSpPr>
          <p:cNvPr id="10" name="Text 8"/>
          <p:cNvSpPr/>
          <p:nvPr/>
        </p:nvSpPr>
        <p:spPr>
          <a:xfrm>
            <a:off x="4937760" y="1755648"/>
            <a:ext cx="3291840" cy="685800"/>
          </a:xfrm>
          <a:prstGeom prst="rect">
            <a:avLst/>
          </a:prstGeom>
          <a:noFill/>
          <a:ln/>
        </p:spPr>
        <p:txBody>
          <a:bodyPr wrap="square" rtlCol="0" anchor="ctr"/>
          <a:lstStyle/>
          <a:p>
            <a:pPr marL="0" indent="0">
              <a:buNone/>
            </a:pPr>
            <a:r>
              <a:rPr lang="en-US" sz="1300" b="1" dirty="0">
                <a:solidFill>
                  <a:srgbClr val="8B6F47"/>
                </a:solidFill>
                <a:latin typeface="Calibri" pitchFamily="34" charset="0"/>
                <a:ea typeface="Calibri" pitchFamily="34" charset="-122"/>
                <a:cs typeface="Calibri" pitchFamily="34" charset="-120"/>
              </a:rPr>
              <a:t>•  Product C: 11.69% fraud rate</a:t>
            </a:r>
            <a:endParaRPr lang="en-US" sz="1300" dirty="0"/>
          </a:p>
          <a:p>
            <a:pPr marL="0" indent="0">
              <a:buNone/>
            </a:pPr>
            <a:r>
              <a:rPr lang="en-US" sz="1300" b="1" dirty="0">
                <a:solidFill>
                  <a:srgbClr val="8B6F47"/>
                </a:solidFill>
                <a:latin typeface="Calibri" pitchFamily="34" charset="0"/>
                <a:ea typeface="Calibri" pitchFamily="34" charset="-122"/>
                <a:cs typeface="Calibri" pitchFamily="34" charset="-120"/>
              </a:rPr>
              <a:t>•  Hours 6-9 AM: 7-10% fraud</a:t>
            </a:r>
            <a:endParaRPr lang="en-US" sz="1300" dirty="0"/>
          </a:p>
          <a:p>
            <a:pPr marL="0" indent="0">
              <a:buNone/>
            </a:pPr>
            <a:r>
              <a:rPr lang="en-US" sz="1300" b="1" dirty="0">
                <a:solidFill>
                  <a:srgbClr val="8B6F47"/>
                </a:solidFill>
                <a:latin typeface="Calibri" pitchFamily="34" charset="0"/>
                <a:ea typeface="Calibri" pitchFamily="34" charset="-122"/>
                <a:cs typeface="Calibri" pitchFamily="34" charset="-120"/>
              </a:rPr>
              <a:t>•  Fraud avg: $149.24</a:t>
            </a:r>
            <a:endParaRPr lang="en-US" sz="1300" dirty="0"/>
          </a:p>
          <a:p>
            <a:pPr marL="0" indent="0">
              <a:buNone/>
            </a:pPr>
            <a:r>
              <a:rPr lang="en-US" sz="1300" b="1" dirty="0">
                <a:solidFill>
                  <a:srgbClr val="8B6F47"/>
                </a:solidFill>
                <a:latin typeface="Calibri" pitchFamily="34" charset="0"/>
                <a:ea typeface="Calibri" pitchFamily="34" charset="-122"/>
                <a:cs typeface="Calibri" pitchFamily="34" charset="-120"/>
              </a:rPr>
              <a:t>•  Legit avg: $134.51</a:t>
            </a:r>
            <a:endParaRPr lang="en-US" sz="1300" dirty="0"/>
          </a:p>
        </p:txBody>
      </p:sp>
      <p:sp>
        <p:nvSpPr>
          <p:cNvPr id="11" name="Text 9"/>
          <p:cNvSpPr/>
          <p:nvPr/>
        </p:nvSpPr>
        <p:spPr>
          <a:xfrm>
            <a:off x="731520" y="2743200"/>
            <a:ext cx="7680960" cy="228600"/>
          </a:xfrm>
          <a:prstGeom prst="rect">
            <a:avLst/>
          </a:prstGeom>
          <a:noFill/>
          <a:ln/>
        </p:spPr>
        <p:txBody>
          <a:bodyPr wrap="square" rtlCol="0" anchor="ctr"/>
          <a:lstStyle/>
          <a:p>
            <a:pPr marL="0" indent="0">
              <a:buNone/>
            </a:pPr>
            <a:r>
              <a:rPr lang="en-US" sz="1600" b="1" dirty="0">
                <a:solidFill>
                  <a:srgbClr val="1A3A52"/>
                </a:solidFill>
                <a:latin typeface="Calibri" pitchFamily="34" charset="0"/>
                <a:ea typeface="Calibri" pitchFamily="34" charset="-122"/>
                <a:cs typeface="Calibri" pitchFamily="34" charset="-120"/>
              </a:rPr>
              <a:t>10 Comprehensive SQL Reports</a:t>
            </a:r>
            <a:endParaRPr lang="en-US" sz="1600" dirty="0"/>
          </a:p>
        </p:txBody>
      </p:sp>
      <p:sp>
        <p:nvSpPr>
          <p:cNvPr id="12" name="Shape 10"/>
          <p:cNvSpPr/>
          <p:nvPr/>
        </p:nvSpPr>
        <p:spPr>
          <a:xfrm>
            <a:off x="731520" y="3063240"/>
            <a:ext cx="3840480" cy="1325880"/>
          </a:xfrm>
          <a:prstGeom prst="rect">
            <a:avLst/>
          </a:prstGeom>
          <a:solidFill>
            <a:srgbClr val="F5F7FA"/>
          </a:solidFill>
          <a:ln w="12700">
            <a:solidFill>
              <a:srgbClr val="6D9BB8"/>
            </a:solidFill>
            <a:prstDash val="solid"/>
          </a:ln>
        </p:spPr>
      </p:sp>
      <p:sp>
        <p:nvSpPr>
          <p:cNvPr id="13" name="Text 11"/>
          <p:cNvSpPr/>
          <p:nvPr/>
        </p:nvSpPr>
        <p:spPr>
          <a:xfrm>
            <a:off x="914400" y="3182112"/>
            <a:ext cx="3474720" cy="219456"/>
          </a:xfrm>
          <a:prstGeom prst="rect">
            <a:avLst/>
          </a:prstGeom>
          <a:noFill/>
          <a:ln/>
        </p:spPr>
        <p:txBody>
          <a:bodyPr wrap="square" rtlCol="0" anchor="ctr"/>
          <a:lstStyle/>
          <a:p>
            <a:pPr marL="0" indent="0">
              <a:buNone/>
            </a:pPr>
            <a:r>
              <a:rPr lang="en-US" sz="1200" dirty="0">
                <a:solidFill>
                  <a:srgbClr val="2C3E50"/>
                </a:solidFill>
                <a:latin typeface="Calibri" pitchFamily="34" charset="0"/>
                <a:ea typeface="Calibri" pitchFamily="34" charset="-122"/>
                <a:cs typeface="Calibri" pitchFamily="34" charset="-120"/>
              </a:rPr>
              <a:t>1.  Fraud Rate by Product Type</a:t>
            </a:r>
            <a:endParaRPr lang="en-US" sz="1200" dirty="0"/>
          </a:p>
        </p:txBody>
      </p:sp>
      <p:sp>
        <p:nvSpPr>
          <p:cNvPr id="14" name="Text 12"/>
          <p:cNvSpPr/>
          <p:nvPr/>
        </p:nvSpPr>
        <p:spPr>
          <a:xfrm>
            <a:off x="914400" y="3429000"/>
            <a:ext cx="3474720" cy="219456"/>
          </a:xfrm>
          <a:prstGeom prst="rect">
            <a:avLst/>
          </a:prstGeom>
          <a:noFill/>
          <a:ln/>
        </p:spPr>
        <p:txBody>
          <a:bodyPr wrap="square" rtlCol="0" anchor="ctr"/>
          <a:lstStyle/>
          <a:p>
            <a:pPr marL="0" indent="0">
              <a:buNone/>
            </a:pPr>
            <a:r>
              <a:rPr lang="en-US" sz="1200" dirty="0">
                <a:solidFill>
                  <a:srgbClr val="2C3E50"/>
                </a:solidFill>
                <a:latin typeface="Calibri" pitchFamily="34" charset="0"/>
                <a:ea typeface="Calibri" pitchFamily="34" charset="-122"/>
                <a:cs typeface="Calibri" pitchFamily="34" charset="-120"/>
              </a:rPr>
              <a:t>2.  Fraud Rate by Time of Day</a:t>
            </a:r>
            <a:endParaRPr lang="en-US" sz="1200" dirty="0"/>
          </a:p>
        </p:txBody>
      </p:sp>
      <p:sp>
        <p:nvSpPr>
          <p:cNvPr id="15" name="Text 13"/>
          <p:cNvSpPr/>
          <p:nvPr/>
        </p:nvSpPr>
        <p:spPr>
          <a:xfrm>
            <a:off x="914400" y="3675888"/>
            <a:ext cx="3474720" cy="219456"/>
          </a:xfrm>
          <a:prstGeom prst="rect">
            <a:avLst/>
          </a:prstGeom>
          <a:noFill/>
          <a:ln/>
        </p:spPr>
        <p:txBody>
          <a:bodyPr wrap="square" rtlCol="0" anchor="ctr"/>
          <a:lstStyle/>
          <a:p>
            <a:pPr marL="0" indent="0">
              <a:buNone/>
            </a:pPr>
            <a:r>
              <a:rPr lang="en-US" sz="1200" dirty="0">
                <a:solidFill>
                  <a:srgbClr val="2C3E50"/>
                </a:solidFill>
                <a:latin typeface="Calibri" pitchFamily="34" charset="0"/>
                <a:ea typeface="Calibri" pitchFamily="34" charset="-122"/>
                <a:cs typeface="Calibri" pitchFamily="34" charset="-120"/>
              </a:rPr>
              <a:t>3.  Top Customers by Transaction Frequency</a:t>
            </a:r>
            <a:endParaRPr lang="en-US" sz="1200" dirty="0"/>
          </a:p>
        </p:txBody>
      </p:sp>
      <p:sp>
        <p:nvSpPr>
          <p:cNvPr id="16" name="Text 14"/>
          <p:cNvSpPr/>
          <p:nvPr/>
        </p:nvSpPr>
        <p:spPr>
          <a:xfrm>
            <a:off x="914400" y="3922776"/>
            <a:ext cx="3474720" cy="219456"/>
          </a:xfrm>
          <a:prstGeom prst="rect">
            <a:avLst/>
          </a:prstGeom>
          <a:noFill/>
          <a:ln/>
        </p:spPr>
        <p:txBody>
          <a:bodyPr wrap="square" rtlCol="0" anchor="ctr"/>
          <a:lstStyle/>
          <a:p>
            <a:pPr marL="0" indent="0">
              <a:buNone/>
            </a:pPr>
            <a:r>
              <a:rPr lang="en-US" sz="1200" dirty="0">
                <a:solidFill>
                  <a:srgbClr val="2C3E50"/>
                </a:solidFill>
                <a:latin typeface="Calibri" pitchFamily="34" charset="0"/>
                <a:ea typeface="Calibri" pitchFamily="34" charset="-122"/>
                <a:cs typeface="Calibri" pitchFamily="34" charset="-120"/>
              </a:rPr>
              <a:t>4.  Avg Transaction Amount Comparison</a:t>
            </a:r>
            <a:endParaRPr lang="en-US" sz="1200" dirty="0"/>
          </a:p>
        </p:txBody>
      </p:sp>
      <p:sp>
        <p:nvSpPr>
          <p:cNvPr id="17" name="Text 15"/>
          <p:cNvSpPr/>
          <p:nvPr/>
        </p:nvSpPr>
        <p:spPr>
          <a:xfrm>
            <a:off x="914400" y="4169664"/>
            <a:ext cx="3474720" cy="219456"/>
          </a:xfrm>
          <a:prstGeom prst="rect">
            <a:avLst/>
          </a:prstGeom>
          <a:noFill/>
          <a:ln/>
        </p:spPr>
        <p:txBody>
          <a:bodyPr wrap="square" rtlCol="0" anchor="ctr"/>
          <a:lstStyle/>
          <a:p>
            <a:pPr marL="0" indent="0">
              <a:buNone/>
            </a:pPr>
            <a:r>
              <a:rPr lang="en-US" sz="1200" dirty="0">
                <a:solidFill>
                  <a:srgbClr val="2C3E50"/>
                </a:solidFill>
                <a:latin typeface="Calibri" pitchFamily="34" charset="0"/>
                <a:ea typeface="Calibri" pitchFamily="34" charset="-122"/>
                <a:cs typeface="Calibri" pitchFamily="34" charset="-120"/>
              </a:rPr>
              <a:t>5.  Daily Fraud Detection Trend</a:t>
            </a:r>
            <a:endParaRPr lang="en-US" sz="1200" dirty="0"/>
          </a:p>
        </p:txBody>
      </p:sp>
      <p:sp>
        <p:nvSpPr>
          <p:cNvPr id="18" name="Shape 16"/>
          <p:cNvSpPr/>
          <p:nvPr/>
        </p:nvSpPr>
        <p:spPr>
          <a:xfrm>
            <a:off x="4754880" y="3063240"/>
            <a:ext cx="3657600" cy="1325880"/>
          </a:xfrm>
          <a:prstGeom prst="rect">
            <a:avLst/>
          </a:prstGeom>
          <a:solidFill>
            <a:srgbClr val="F5F7FA"/>
          </a:solidFill>
          <a:ln w="12700">
            <a:solidFill>
              <a:srgbClr val="6D9BB8"/>
            </a:solidFill>
            <a:prstDash val="solid"/>
          </a:ln>
        </p:spPr>
      </p:sp>
      <p:sp>
        <p:nvSpPr>
          <p:cNvPr id="19" name="Text 17"/>
          <p:cNvSpPr/>
          <p:nvPr/>
        </p:nvSpPr>
        <p:spPr>
          <a:xfrm>
            <a:off x="4937760" y="3182112"/>
            <a:ext cx="3291840" cy="219456"/>
          </a:xfrm>
          <a:prstGeom prst="rect">
            <a:avLst/>
          </a:prstGeom>
          <a:noFill/>
          <a:ln/>
        </p:spPr>
        <p:txBody>
          <a:bodyPr wrap="square" rtlCol="0" anchor="ctr"/>
          <a:lstStyle/>
          <a:p>
            <a:pPr marL="0" indent="0">
              <a:buNone/>
            </a:pPr>
            <a:r>
              <a:rPr lang="en-US" sz="1200" dirty="0">
                <a:solidFill>
                  <a:srgbClr val="2C3E50"/>
                </a:solidFill>
                <a:latin typeface="Calibri" pitchFamily="34" charset="0"/>
                <a:ea typeface="Calibri" pitchFamily="34" charset="-122"/>
                <a:cs typeface="Calibri" pitchFamily="34" charset="-120"/>
              </a:rPr>
              <a:t>6.  Model Performance Summary</a:t>
            </a:r>
            <a:endParaRPr lang="en-US" sz="1200" dirty="0"/>
          </a:p>
        </p:txBody>
      </p:sp>
      <p:sp>
        <p:nvSpPr>
          <p:cNvPr id="20" name="Text 18"/>
          <p:cNvSpPr/>
          <p:nvPr/>
        </p:nvSpPr>
        <p:spPr>
          <a:xfrm>
            <a:off x="4937760" y="3429000"/>
            <a:ext cx="3291840" cy="219456"/>
          </a:xfrm>
          <a:prstGeom prst="rect">
            <a:avLst/>
          </a:prstGeom>
          <a:noFill/>
          <a:ln/>
        </p:spPr>
        <p:txBody>
          <a:bodyPr wrap="square" rtlCol="0" anchor="ctr"/>
          <a:lstStyle/>
          <a:p>
            <a:pPr marL="0" indent="0">
              <a:buNone/>
            </a:pPr>
            <a:r>
              <a:rPr lang="en-US" sz="1200" dirty="0">
                <a:solidFill>
                  <a:srgbClr val="2C3E50"/>
                </a:solidFill>
                <a:latin typeface="Calibri" pitchFamily="34" charset="0"/>
                <a:ea typeface="Calibri" pitchFamily="34" charset="-122"/>
                <a:cs typeface="Calibri" pitchFamily="34" charset="-120"/>
              </a:rPr>
              <a:t>7.  Transactions Flagged by Each Model</a:t>
            </a:r>
            <a:endParaRPr lang="en-US" sz="1200" dirty="0"/>
          </a:p>
        </p:txBody>
      </p:sp>
      <p:sp>
        <p:nvSpPr>
          <p:cNvPr id="21" name="Text 19"/>
          <p:cNvSpPr/>
          <p:nvPr/>
        </p:nvSpPr>
        <p:spPr>
          <a:xfrm>
            <a:off x="4937760" y="3675888"/>
            <a:ext cx="3291840" cy="219456"/>
          </a:xfrm>
          <a:prstGeom prst="rect">
            <a:avLst/>
          </a:prstGeom>
          <a:noFill/>
          <a:ln/>
        </p:spPr>
        <p:txBody>
          <a:bodyPr wrap="square" rtlCol="0" anchor="ctr"/>
          <a:lstStyle/>
          <a:p>
            <a:pPr marL="0" indent="0">
              <a:buNone/>
            </a:pPr>
            <a:r>
              <a:rPr lang="en-US" sz="1200" dirty="0">
                <a:solidFill>
                  <a:srgbClr val="2C3E50"/>
                </a:solidFill>
                <a:latin typeface="Calibri" pitchFamily="34" charset="0"/>
                <a:ea typeface="Calibri" pitchFamily="34" charset="-122"/>
                <a:cs typeface="Calibri" pitchFamily="34" charset="-120"/>
              </a:rPr>
              <a:t>8.  Customer Segments by Risk</a:t>
            </a:r>
            <a:endParaRPr lang="en-US" sz="1200" dirty="0"/>
          </a:p>
        </p:txBody>
      </p:sp>
      <p:sp>
        <p:nvSpPr>
          <p:cNvPr id="22" name="Text 20"/>
          <p:cNvSpPr/>
          <p:nvPr/>
        </p:nvSpPr>
        <p:spPr>
          <a:xfrm>
            <a:off x="4937760" y="3922776"/>
            <a:ext cx="3291840" cy="219456"/>
          </a:xfrm>
          <a:prstGeom prst="rect">
            <a:avLst/>
          </a:prstGeom>
          <a:noFill/>
          <a:ln/>
        </p:spPr>
        <p:txBody>
          <a:bodyPr wrap="square" rtlCol="0" anchor="ctr"/>
          <a:lstStyle/>
          <a:p>
            <a:pPr marL="0" indent="0">
              <a:buNone/>
            </a:pPr>
            <a:r>
              <a:rPr lang="en-US" sz="1200" dirty="0">
                <a:solidFill>
                  <a:srgbClr val="2C3E50"/>
                </a:solidFill>
                <a:latin typeface="Calibri" pitchFamily="34" charset="0"/>
                <a:ea typeface="Calibri" pitchFamily="34" charset="-122"/>
                <a:cs typeface="Calibri" pitchFamily="34" charset="-120"/>
              </a:rPr>
              <a:t>9.  Precision/Recall per Model</a:t>
            </a:r>
            <a:endParaRPr lang="en-US" sz="1200" dirty="0"/>
          </a:p>
        </p:txBody>
      </p:sp>
      <p:sp>
        <p:nvSpPr>
          <p:cNvPr id="23" name="Text 21"/>
          <p:cNvSpPr/>
          <p:nvPr/>
        </p:nvSpPr>
        <p:spPr>
          <a:xfrm>
            <a:off x="4937760" y="4169664"/>
            <a:ext cx="3291840" cy="219456"/>
          </a:xfrm>
          <a:prstGeom prst="rect">
            <a:avLst/>
          </a:prstGeom>
          <a:noFill/>
          <a:ln/>
        </p:spPr>
        <p:txBody>
          <a:bodyPr wrap="square" rtlCol="0" anchor="ctr"/>
          <a:lstStyle/>
          <a:p>
            <a:pPr marL="0" indent="0">
              <a:buNone/>
            </a:pPr>
            <a:r>
              <a:rPr lang="en-US" sz="1200" dirty="0">
                <a:solidFill>
                  <a:srgbClr val="2C3E50"/>
                </a:solidFill>
                <a:latin typeface="Calibri" pitchFamily="34" charset="0"/>
                <a:ea typeface="Calibri" pitchFamily="34" charset="-122"/>
                <a:cs typeface="Calibri" pitchFamily="34" charset="-120"/>
              </a:rPr>
              <a:t>10.  Fraud Rate by Device Type</a:t>
            </a:r>
            <a:endParaRPr lang="en-US" sz="12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5F7FA"/>
          </a:solidFill>
          <a:ln/>
        </p:spPr>
      </p:sp>
      <p:sp>
        <p:nvSpPr>
          <p:cNvPr id="3" name="Text 1"/>
          <p:cNvSpPr/>
          <p:nvPr/>
        </p:nvSpPr>
        <p:spPr>
          <a:xfrm>
            <a:off x="548640" y="182880"/>
            <a:ext cx="8046720" cy="320040"/>
          </a:xfrm>
          <a:prstGeom prst="rect">
            <a:avLst/>
          </a:prstGeom>
          <a:noFill/>
          <a:ln/>
        </p:spPr>
        <p:txBody>
          <a:bodyPr wrap="square" rtlCol="0" anchor="ctr"/>
          <a:lstStyle/>
          <a:p>
            <a:pPr marL="0" indent="0">
              <a:buNone/>
            </a:pPr>
            <a:r>
              <a:rPr lang="en-US" sz="3600" b="1" dirty="0">
                <a:solidFill>
                  <a:srgbClr val="1A3A52"/>
                </a:solidFill>
                <a:latin typeface="Calibri" pitchFamily="34" charset="0"/>
                <a:ea typeface="Calibri" pitchFamily="34" charset="-122"/>
                <a:cs typeface="Calibri" pitchFamily="34" charset="-120"/>
              </a:rPr>
              <a:t>Project Achievements</a:t>
            </a:r>
            <a:endParaRPr lang="en-US" sz="3600" dirty="0"/>
          </a:p>
        </p:txBody>
      </p:sp>
      <p:sp>
        <p:nvSpPr>
          <p:cNvPr id="4" name="Text 2"/>
          <p:cNvSpPr/>
          <p:nvPr/>
        </p:nvSpPr>
        <p:spPr>
          <a:xfrm>
            <a:off x="731520" y="914400"/>
            <a:ext cx="7680960" cy="320040"/>
          </a:xfrm>
          <a:prstGeom prst="rect">
            <a:avLst/>
          </a:prstGeom>
          <a:noFill/>
          <a:ln/>
        </p:spPr>
        <p:txBody>
          <a:bodyPr wrap="square" rtlCol="0" anchor="ctr"/>
          <a:lstStyle/>
          <a:p>
            <a:pPr marL="0" indent="0">
              <a:buNone/>
            </a:pPr>
            <a:r>
              <a:rPr lang="en-US" sz="1500" dirty="0">
                <a:solidFill>
                  <a:srgbClr val="546E7A"/>
                </a:solidFill>
                <a:latin typeface="Calibri" pitchFamily="34" charset="0"/>
                <a:ea typeface="Calibri" pitchFamily="34" charset="-122"/>
                <a:cs typeface="Calibri" pitchFamily="34" charset="-120"/>
              </a:rPr>
              <a:t>Comprehensive end-to-end machine learning solution from data preprocessing to production deployment.</a:t>
            </a:r>
            <a:endParaRPr lang="en-US" sz="1500" dirty="0"/>
          </a:p>
        </p:txBody>
      </p:sp>
      <p:sp>
        <p:nvSpPr>
          <p:cNvPr id="5" name="Text 3"/>
          <p:cNvSpPr/>
          <p:nvPr/>
        </p:nvSpPr>
        <p:spPr>
          <a:xfrm>
            <a:off x="731520" y="1371600"/>
            <a:ext cx="3840480" cy="274320"/>
          </a:xfrm>
          <a:prstGeom prst="rect">
            <a:avLst/>
          </a:prstGeom>
          <a:noFill/>
          <a:ln/>
        </p:spPr>
        <p:txBody>
          <a:bodyPr wrap="square" rtlCol="0" anchor="ctr"/>
          <a:lstStyle/>
          <a:p>
            <a:pPr marL="0" indent="0">
              <a:buNone/>
            </a:pPr>
            <a:r>
              <a:rPr lang="en-US" sz="1700" b="1" dirty="0">
                <a:solidFill>
                  <a:srgbClr val="1A3A52"/>
                </a:solidFill>
                <a:latin typeface="Calibri" pitchFamily="34" charset="0"/>
                <a:ea typeface="Calibri" pitchFamily="34" charset="-122"/>
                <a:cs typeface="Calibri" pitchFamily="34" charset="-120"/>
              </a:rPr>
              <a:t>What We Accomplished</a:t>
            </a:r>
            <a:endParaRPr lang="en-US" sz="1700" dirty="0"/>
          </a:p>
        </p:txBody>
      </p:sp>
      <p:sp>
        <p:nvSpPr>
          <p:cNvPr id="6" name="Shape 4"/>
          <p:cNvSpPr/>
          <p:nvPr/>
        </p:nvSpPr>
        <p:spPr>
          <a:xfrm>
            <a:off x="731520" y="1737360"/>
            <a:ext cx="3840480" cy="2651760"/>
          </a:xfrm>
          <a:prstGeom prst="rect">
            <a:avLst/>
          </a:prstGeom>
          <a:solidFill>
            <a:srgbClr val="F5F7FA"/>
          </a:solidFill>
          <a:ln w="25400">
            <a:solidFill>
              <a:srgbClr val="6D9BB8"/>
            </a:solidFill>
            <a:prstDash val="solid"/>
          </a:ln>
        </p:spPr>
      </p:sp>
      <p:sp>
        <p:nvSpPr>
          <p:cNvPr id="7" name="Text 5"/>
          <p:cNvSpPr/>
          <p:nvPr/>
        </p:nvSpPr>
        <p:spPr>
          <a:xfrm>
            <a:off x="914400" y="1874520"/>
            <a:ext cx="3474720" cy="164592"/>
          </a:xfrm>
          <a:prstGeom prst="rect">
            <a:avLst/>
          </a:prstGeom>
          <a:noFill/>
          <a:ln/>
        </p:spPr>
        <p:txBody>
          <a:bodyPr wrap="square" rtlCol="0" anchor="ctr"/>
          <a:lstStyle/>
          <a:p>
            <a:pPr marL="0" indent="0">
              <a:buNone/>
            </a:pPr>
            <a:r>
              <a:rPr lang="en-US" sz="1300" b="1" dirty="0">
                <a:solidFill>
                  <a:srgbClr val="2C3E50"/>
                </a:solidFill>
                <a:latin typeface="Calibri" pitchFamily="34" charset="0"/>
                <a:ea typeface="Calibri" pitchFamily="34" charset="-122"/>
                <a:cs typeface="Calibri" pitchFamily="34" charset="-120"/>
              </a:rPr>
              <a:t>Data Processing:</a:t>
            </a:r>
            <a:endParaRPr lang="en-US" sz="1300" dirty="0"/>
          </a:p>
        </p:txBody>
      </p:sp>
      <p:sp>
        <p:nvSpPr>
          <p:cNvPr id="8" name="Text 6"/>
          <p:cNvSpPr/>
          <p:nvPr/>
        </p:nvSpPr>
        <p:spPr>
          <a:xfrm>
            <a:off x="914400" y="2039112"/>
            <a:ext cx="3474720" cy="164592"/>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  • Merged 590,540 transactions</a:t>
            </a:r>
            <a:endParaRPr lang="en-US" sz="1200" dirty="0"/>
          </a:p>
        </p:txBody>
      </p:sp>
      <p:sp>
        <p:nvSpPr>
          <p:cNvPr id="9" name="Text 7"/>
          <p:cNvSpPr/>
          <p:nvPr/>
        </p:nvSpPr>
        <p:spPr>
          <a:xfrm>
            <a:off x="914400" y="2203704"/>
            <a:ext cx="3474720" cy="164592"/>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  • Engineered 11 new features</a:t>
            </a:r>
            <a:endParaRPr lang="en-US" sz="1200" dirty="0"/>
          </a:p>
        </p:txBody>
      </p:sp>
      <p:sp>
        <p:nvSpPr>
          <p:cNvPr id="10" name="Text 8"/>
          <p:cNvSpPr/>
          <p:nvPr/>
        </p:nvSpPr>
        <p:spPr>
          <a:xfrm>
            <a:off x="914400" y="2368296"/>
            <a:ext cx="3474720" cy="164592"/>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  • Handled missing values strategically</a:t>
            </a:r>
            <a:endParaRPr lang="en-US" sz="1200" dirty="0"/>
          </a:p>
        </p:txBody>
      </p:sp>
      <p:sp>
        <p:nvSpPr>
          <p:cNvPr id="11" name="Text 9"/>
          <p:cNvSpPr/>
          <p:nvPr/>
        </p:nvSpPr>
        <p:spPr>
          <a:xfrm>
            <a:off x="914400" y="2532888"/>
            <a:ext cx="3474720" cy="164592"/>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  • Applied SMOTE for class balance</a:t>
            </a:r>
            <a:endParaRPr lang="en-US" sz="1200" dirty="0"/>
          </a:p>
        </p:txBody>
      </p:sp>
      <p:sp>
        <p:nvSpPr>
          <p:cNvPr id="12" name="Text 10"/>
          <p:cNvSpPr/>
          <p:nvPr/>
        </p:nvSpPr>
        <p:spPr>
          <a:xfrm>
            <a:off x="914400" y="2743200"/>
            <a:ext cx="3474720" cy="164592"/>
          </a:xfrm>
          <a:prstGeom prst="rect">
            <a:avLst/>
          </a:prstGeom>
          <a:noFill/>
          <a:ln/>
        </p:spPr>
        <p:txBody>
          <a:bodyPr wrap="square" rtlCol="0" anchor="ctr"/>
          <a:lstStyle/>
          <a:p>
            <a:pPr marL="0" indent="0">
              <a:buNone/>
            </a:pPr>
            <a:r>
              <a:rPr lang="en-US" sz="1300" b="1" dirty="0">
                <a:solidFill>
                  <a:srgbClr val="2C3E50"/>
                </a:solidFill>
                <a:latin typeface="Calibri" pitchFamily="34" charset="0"/>
                <a:ea typeface="Calibri" pitchFamily="34" charset="-122"/>
                <a:cs typeface="Calibri" pitchFamily="34" charset="-120"/>
              </a:rPr>
              <a:t>Model Development:</a:t>
            </a:r>
            <a:endParaRPr lang="en-US" sz="1300" dirty="0"/>
          </a:p>
        </p:txBody>
      </p:sp>
      <p:sp>
        <p:nvSpPr>
          <p:cNvPr id="13" name="Text 11"/>
          <p:cNvSpPr/>
          <p:nvPr/>
        </p:nvSpPr>
        <p:spPr>
          <a:xfrm>
            <a:off x="914400" y="2907792"/>
            <a:ext cx="3474720" cy="164592"/>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  • Trained 4 different algorithms</a:t>
            </a:r>
            <a:endParaRPr lang="en-US" sz="1200" dirty="0"/>
          </a:p>
        </p:txBody>
      </p:sp>
      <p:sp>
        <p:nvSpPr>
          <p:cNvPr id="14" name="Text 12"/>
          <p:cNvSpPr/>
          <p:nvPr/>
        </p:nvSpPr>
        <p:spPr>
          <a:xfrm>
            <a:off x="914400" y="3072384"/>
            <a:ext cx="3474720" cy="164592"/>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  • Compared across 5 metrics</a:t>
            </a:r>
            <a:endParaRPr lang="en-US" sz="1200" dirty="0"/>
          </a:p>
        </p:txBody>
      </p:sp>
      <p:sp>
        <p:nvSpPr>
          <p:cNvPr id="15" name="Text 13"/>
          <p:cNvSpPr/>
          <p:nvPr/>
        </p:nvSpPr>
        <p:spPr>
          <a:xfrm>
            <a:off x="914400" y="3236976"/>
            <a:ext cx="3474720" cy="164592"/>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  • Optimized hyperparameters</a:t>
            </a:r>
            <a:endParaRPr lang="en-US" sz="1200" dirty="0"/>
          </a:p>
        </p:txBody>
      </p:sp>
      <p:sp>
        <p:nvSpPr>
          <p:cNvPr id="16" name="Text 14"/>
          <p:cNvSpPr/>
          <p:nvPr/>
        </p:nvSpPr>
        <p:spPr>
          <a:xfrm>
            <a:off x="914400" y="3447288"/>
            <a:ext cx="3474720" cy="164592"/>
          </a:xfrm>
          <a:prstGeom prst="rect">
            <a:avLst/>
          </a:prstGeom>
          <a:noFill/>
          <a:ln/>
        </p:spPr>
        <p:txBody>
          <a:bodyPr wrap="square" rtlCol="0" anchor="ctr"/>
          <a:lstStyle/>
          <a:p>
            <a:pPr marL="0" indent="0">
              <a:buNone/>
            </a:pPr>
            <a:r>
              <a:rPr lang="en-US" sz="1300" b="1" dirty="0">
                <a:solidFill>
                  <a:srgbClr val="2C3E50"/>
                </a:solidFill>
                <a:latin typeface="Calibri" pitchFamily="34" charset="0"/>
                <a:ea typeface="Calibri" pitchFamily="34" charset="-122"/>
                <a:cs typeface="Calibri" pitchFamily="34" charset="-120"/>
              </a:rPr>
              <a:t>Infrastructure:</a:t>
            </a:r>
            <a:endParaRPr lang="en-US" sz="1300" dirty="0"/>
          </a:p>
        </p:txBody>
      </p:sp>
      <p:sp>
        <p:nvSpPr>
          <p:cNvPr id="17" name="Text 15"/>
          <p:cNvSpPr/>
          <p:nvPr/>
        </p:nvSpPr>
        <p:spPr>
          <a:xfrm>
            <a:off x="914400" y="3611880"/>
            <a:ext cx="3474720" cy="164592"/>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  • Built SQL database schema</a:t>
            </a:r>
            <a:endParaRPr lang="en-US" sz="1200" dirty="0"/>
          </a:p>
        </p:txBody>
      </p:sp>
      <p:sp>
        <p:nvSpPr>
          <p:cNvPr id="18" name="Text 16"/>
          <p:cNvSpPr/>
          <p:nvPr/>
        </p:nvSpPr>
        <p:spPr>
          <a:xfrm>
            <a:off x="914400" y="3776472"/>
            <a:ext cx="3474720" cy="164592"/>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  • Created 10 analytical reports</a:t>
            </a:r>
            <a:endParaRPr lang="en-US" sz="1200" dirty="0"/>
          </a:p>
        </p:txBody>
      </p:sp>
      <p:sp>
        <p:nvSpPr>
          <p:cNvPr id="19" name="Text 17"/>
          <p:cNvSpPr/>
          <p:nvPr/>
        </p:nvSpPr>
        <p:spPr>
          <a:xfrm>
            <a:off x="914400" y="3941064"/>
            <a:ext cx="3474720" cy="164592"/>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  • Enabled production monitoring</a:t>
            </a:r>
            <a:endParaRPr lang="en-US" sz="1200" dirty="0"/>
          </a:p>
        </p:txBody>
      </p:sp>
      <p:sp>
        <p:nvSpPr>
          <p:cNvPr id="20" name="Text 18"/>
          <p:cNvSpPr/>
          <p:nvPr/>
        </p:nvSpPr>
        <p:spPr>
          <a:xfrm>
            <a:off x="4754880" y="1371600"/>
            <a:ext cx="3657600" cy="274320"/>
          </a:xfrm>
          <a:prstGeom prst="rect">
            <a:avLst/>
          </a:prstGeom>
          <a:noFill/>
          <a:ln/>
        </p:spPr>
        <p:txBody>
          <a:bodyPr wrap="square" rtlCol="0" anchor="ctr"/>
          <a:lstStyle/>
          <a:p>
            <a:pPr marL="0" indent="0">
              <a:buNone/>
            </a:pPr>
            <a:r>
              <a:rPr lang="en-US" sz="1700" b="1" dirty="0">
                <a:solidFill>
                  <a:srgbClr val="1A3A52"/>
                </a:solidFill>
                <a:latin typeface="Calibri" pitchFamily="34" charset="0"/>
                <a:ea typeface="Calibri" pitchFamily="34" charset="-122"/>
                <a:cs typeface="Calibri" pitchFamily="34" charset="-120"/>
              </a:rPr>
              <a:t>Key Outputs &amp; Results</a:t>
            </a:r>
            <a:endParaRPr lang="en-US" sz="1700" dirty="0"/>
          </a:p>
        </p:txBody>
      </p:sp>
      <p:sp>
        <p:nvSpPr>
          <p:cNvPr id="21" name="Shape 19"/>
          <p:cNvSpPr/>
          <p:nvPr/>
        </p:nvSpPr>
        <p:spPr>
          <a:xfrm>
            <a:off x="4777917" y="1737360"/>
            <a:ext cx="3657600" cy="2651760"/>
          </a:xfrm>
          <a:prstGeom prst="rect">
            <a:avLst/>
          </a:prstGeom>
          <a:solidFill>
            <a:srgbClr val="F5F7FA"/>
          </a:solidFill>
          <a:ln w="25400">
            <a:solidFill>
              <a:srgbClr val="6D9BB8"/>
            </a:solidFill>
            <a:prstDash val="solid"/>
          </a:ln>
        </p:spPr>
      </p:sp>
      <p:sp>
        <p:nvSpPr>
          <p:cNvPr id="22" name="Shape 20"/>
          <p:cNvSpPr/>
          <p:nvPr/>
        </p:nvSpPr>
        <p:spPr>
          <a:xfrm>
            <a:off x="4937760" y="1874519"/>
            <a:ext cx="3291840" cy="363137"/>
          </a:xfrm>
          <a:prstGeom prst="rect">
            <a:avLst/>
          </a:prstGeom>
          <a:solidFill>
            <a:srgbClr val="D4E7D7"/>
          </a:solidFill>
          <a:ln w="12700">
            <a:solidFill>
              <a:srgbClr val="6D9BB8"/>
            </a:solidFill>
            <a:prstDash val="solid"/>
          </a:ln>
        </p:spPr>
      </p:sp>
      <p:sp>
        <p:nvSpPr>
          <p:cNvPr id="23" name="Text 21"/>
          <p:cNvSpPr/>
          <p:nvPr/>
        </p:nvSpPr>
        <p:spPr>
          <a:xfrm>
            <a:off x="4937760" y="1894120"/>
            <a:ext cx="3108960" cy="137160"/>
          </a:xfrm>
          <a:prstGeom prst="rect">
            <a:avLst/>
          </a:prstGeom>
          <a:noFill/>
          <a:ln/>
        </p:spPr>
        <p:txBody>
          <a:bodyPr wrap="square" rtlCol="0" anchor="ctr"/>
          <a:lstStyle/>
          <a:p>
            <a:pPr marL="0" indent="0">
              <a:buNone/>
            </a:pPr>
            <a:r>
              <a:rPr lang="en-US" sz="1200" b="1" dirty="0">
                <a:solidFill>
                  <a:srgbClr val="2C3E50"/>
                </a:solidFill>
                <a:latin typeface="Calibri" pitchFamily="34" charset="0"/>
                <a:ea typeface="Calibri" pitchFamily="34" charset="-122"/>
                <a:cs typeface="Calibri" pitchFamily="34" charset="-120"/>
              </a:rPr>
              <a:t>Best ROC-AUC</a:t>
            </a:r>
            <a:endParaRPr lang="en-US" sz="1200" dirty="0"/>
          </a:p>
        </p:txBody>
      </p:sp>
      <p:sp>
        <p:nvSpPr>
          <p:cNvPr id="24" name="Text 22"/>
          <p:cNvSpPr/>
          <p:nvPr/>
        </p:nvSpPr>
        <p:spPr>
          <a:xfrm>
            <a:off x="4937760" y="2068157"/>
            <a:ext cx="3108960" cy="109728"/>
          </a:xfrm>
          <a:prstGeom prst="rect">
            <a:avLst/>
          </a:prstGeom>
          <a:noFill/>
          <a:ln/>
        </p:spPr>
        <p:txBody>
          <a:bodyPr wrap="square" rtlCol="0" anchor="ctr"/>
          <a:lstStyle/>
          <a:p>
            <a:pPr marL="0" indent="0">
              <a:buNone/>
            </a:pPr>
            <a:r>
              <a:rPr lang="en-US" sz="1400" b="1" dirty="0">
                <a:solidFill>
                  <a:srgbClr val="1A3A52"/>
                </a:solidFill>
                <a:latin typeface="Calibri" pitchFamily="34" charset="0"/>
                <a:ea typeface="Calibri" pitchFamily="34" charset="-122"/>
                <a:cs typeface="Calibri" pitchFamily="34" charset="-120"/>
              </a:rPr>
              <a:t>0.9062 (XGBoost)</a:t>
            </a:r>
            <a:endParaRPr lang="en-US" sz="1400" dirty="0"/>
          </a:p>
        </p:txBody>
      </p:sp>
      <p:sp>
        <p:nvSpPr>
          <p:cNvPr id="25" name="Shape 23"/>
          <p:cNvSpPr/>
          <p:nvPr/>
        </p:nvSpPr>
        <p:spPr>
          <a:xfrm>
            <a:off x="4937760" y="2457326"/>
            <a:ext cx="3291840" cy="347472"/>
          </a:xfrm>
          <a:prstGeom prst="rect">
            <a:avLst/>
          </a:prstGeom>
          <a:solidFill>
            <a:srgbClr val="D4E7D7"/>
          </a:solidFill>
          <a:ln w="12700">
            <a:solidFill>
              <a:srgbClr val="6D9BB8"/>
            </a:solidFill>
            <a:prstDash val="solid"/>
          </a:ln>
        </p:spPr>
      </p:sp>
      <p:sp>
        <p:nvSpPr>
          <p:cNvPr id="26" name="Text 24"/>
          <p:cNvSpPr/>
          <p:nvPr/>
        </p:nvSpPr>
        <p:spPr>
          <a:xfrm>
            <a:off x="4937760" y="2476394"/>
            <a:ext cx="3108960" cy="137160"/>
          </a:xfrm>
          <a:prstGeom prst="rect">
            <a:avLst/>
          </a:prstGeom>
          <a:noFill/>
          <a:ln/>
        </p:spPr>
        <p:txBody>
          <a:bodyPr wrap="square" rtlCol="0" anchor="ctr"/>
          <a:lstStyle/>
          <a:p>
            <a:pPr marL="0" indent="0">
              <a:buNone/>
            </a:pPr>
            <a:r>
              <a:rPr lang="en-US" sz="1200" b="1" dirty="0">
                <a:solidFill>
                  <a:srgbClr val="2C3E50"/>
                </a:solidFill>
                <a:latin typeface="Calibri" pitchFamily="34" charset="0"/>
                <a:ea typeface="Calibri" pitchFamily="34" charset="-122"/>
                <a:cs typeface="Calibri" pitchFamily="34" charset="-120"/>
              </a:rPr>
              <a:t>Best Precision</a:t>
            </a:r>
            <a:endParaRPr lang="en-US" sz="1200" dirty="0"/>
          </a:p>
        </p:txBody>
      </p:sp>
      <p:sp>
        <p:nvSpPr>
          <p:cNvPr id="27" name="Text 25"/>
          <p:cNvSpPr/>
          <p:nvPr/>
        </p:nvSpPr>
        <p:spPr>
          <a:xfrm>
            <a:off x="4937760" y="2667320"/>
            <a:ext cx="3108960" cy="109728"/>
          </a:xfrm>
          <a:prstGeom prst="rect">
            <a:avLst/>
          </a:prstGeom>
          <a:noFill/>
          <a:ln/>
        </p:spPr>
        <p:txBody>
          <a:bodyPr wrap="square" rtlCol="0" anchor="ctr"/>
          <a:lstStyle/>
          <a:p>
            <a:pPr marL="0" indent="0">
              <a:buNone/>
            </a:pPr>
            <a:r>
              <a:rPr lang="en-US" sz="1400" b="1" dirty="0">
                <a:solidFill>
                  <a:srgbClr val="1A3A52"/>
                </a:solidFill>
                <a:latin typeface="Calibri" pitchFamily="34" charset="0"/>
                <a:ea typeface="Calibri" pitchFamily="34" charset="-122"/>
                <a:cs typeface="Calibri" pitchFamily="34" charset="-120"/>
              </a:rPr>
              <a:t>71.95% (XGBoost)</a:t>
            </a:r>
            <a:endParaRPr lang="en-US" sz="1400" dirty="0"/>
          </a:p>
        </p:txBody>
      </p:sp>
      <p:sp>
        <p:nvSpPr>
          <p:cNvPr id="28" name="Shape 26"/>
          <p:cNvSpPr/>
          <p:nvPr/>
        </p:nvSpPr>
        <p:spPr>
          <a:xfrm>
            <a:off x="4937760" y="2993739"/>
            <a:ext cx="3291840" cy="347472"/>
          </a:xfrm>
          <a:prstGeom prst="rect">
            <a:avLst/>
          </a:prstGeom>
          <a:solidFill>
            <a:srgbClr val="E8EFF5"/>
          </a:solidFill>
          <a:ln w="12700">
            <a:solidFill>
              <a:srgbClr val="6D9BB8"/>
            </a:solidFill>
            <a:prstDash val="solid"/>
          </a:ln>
        </p:spPr>
      </p:sp>
      <p:sp>
        <p:nvSpPr>
          <p:cNvPr id="29" name="Text 27"/>
          <p:cNvSpPr/>
          <p:nvPr/>
        </p:nvSpPr>
        <p:spPr>
          <a:xfrm>
            <a:off x="4937760" y="3004761"/>
            <a:ext cx="3108960" cy="137160"/>
          </a:xfrm>
          <a:prstGeom prst="rect">
            <a:avLst/>
          </a:prstGeom>
          <a:noFill/>
          <a:ln/>
        </p:spPr>
        <p:txBody>
          <a:bodyPr wrap="square" rtlCol="0" anchor="ctr"/>
          <a:lstStyle/>
          <a:p>
            <a:pPr marL="0" indent="0">
              <a:buNone/>
            </a:pPr>
            <a:r>
              <a:rPr lang="en-US" sz="1200" b="1" dirty="0">
                <a:solidFill>
                  <a:srgbClr val="2C3E50"/>
                </a:solidFill>
                <a:latin typeface="Calibri" pitchFamily="34" charset="0"/>
                <a:ea typeface="Calibri" pitchFamily="34" charset="-122"/>
                <a:cs typeface="Calibri" pitchFamily="34" charset="-120"/>
              </a:rPr>
              <a:t>Best Recall</a:t>
            </a:r>
            <a:endParaRPr lang="en-US" sz="1200" dirty="0"/>
          </a:p>
        </p:txBody>
      </p:sp>
      <p:sp>
        <p:nvSpPr>
          <p:cNvPr id="30" name="Text 28"/>
          <p:cNvSpPr/>
          <p:nvPr/>
        </p:nvSpPr>
        <p:spPr>
          <a:xfrm>
            <a:off x="4937760" y="3193737"/>
            <a:ext cx="3108960" cy="109728"/>
          </a:xfrm>
          <a:prstGeom prst="rect">
            <a:avLst/>
          </a:prstGeom>
          <a:noFill/>
          <a:ln/>
        </p:spPr>
        <p:txBody>
          <a:bodyPr wrap="square" rtlCol="0" anchor="ctr"/>
          <a:lstStyle/>
          <a:p>
            <a:pPr marL="0" indent="0">
              <a:buNone/>
            </a:pPr>
            <a:r>
              <a:rPr lang="en-US" sz="1400" b="1" dirty="0">
                <a:solidFill>
                  <a:srgbClr val="1A3A52"/>
                </a:solidFill>
                <a:latin typeface="Calibri" pitchFamily="34" charset="0"/>
                <a:ea typeface="Calibri" pitchFamily="34" charset="-122"/>
                <a:cs typeface="Calibri" pitchFamily="34" charset="-120"/>
              </a:rPr>
              <a:t>46.87% (Random Forest)</a:t>
            </a:r>
            <a:endParaRPr lang="en-US" sz="1400" dirty="0"/>
          </a:p>
        </p:txBody>
      </p:sp>
      <p:sp>
        <p:nvSpPr>
          <p:cNvPr id="31" name="Shape 29"/>
          <p:cNvSpPr/>
          <p:nvPr/>
        </p:nvSpPr>
        <p:spPr>
          <a:xfrm>
            <a:off x="4914722" y="3555953"/>
            <a:ext cx="3314877" cy="415379"/>
          </a:xfrm>
          <a:prstGeom prst="rect">
            <a:avLst/>
          </a:prstGeom>
          <a:solidFill>
            <a:srgbClr val="FFF8E7"/>
          </a:solidFill>
          <a:ln w="12700">
            <a:solidFill>
              <a:srgbClr val="6D9BB8"/>
            </a:solidFill>
            <a:prstDash val="solid"/>
          </a:ln>
        </p:spPr>
      </p:sp>
      <p:sp>
        <p:nvSpPr>
          <p:cNvPr id="32" name="Text 30"/>
          <p:cNvSpPr/>
          <p:nvPr/>
        </p:nvSpPr>
        <p:spPr>
          <a:xfrm>
            <a:off x="4937760" y="3593699"/>
            <a:ext cx="3108960" cy="137160"/>
          </a:xfrm>
          <a:prstGeom prst="rect">
            <a:avLst/>
          </a:prstGeom>
          <a:noFill/>
          <a:ln/>
        </p:spPr>
        <p:txBody>
          <a:bodyPr wrap="square" rtlCol="0" anchor="ctr"/>
          <a:lstStyle/>
          <a:p>
            <a:pPr marL="0" indent="0">
              <a:buNone/>
            </a:pPr>
            <a:r>
              <a:rPr lang="en-US" sz="1200" b="1" dirty="0">
                <a:solidFill>
                  <a:srgbClr val="2C3E50"/>
                </a:solidFill>
                <a:latin typeface="Calibri" pitchFamily="34" charset="0"/>
                <a:ea typeface="Calibri" pitchFamily="34" charset="-122"/>
                <a:cs typeface="Calibri" pitchFamily="34" charset="-120"/>
              </a:rPr>
              <a:t>Improvement</a:t>
            </a:r>
            <a:endParaRPr lang="en-US" sz="1200" dirty="0"/>
          </a:p>
        </p:txBody>
      </p:sp>
      <p:sp>
        <p:nvSpPr>
          <p:cNvPr id="33" name="Text 31"/>
          <p:cNvSpPr/>
          <p:nvPr/>
        </p:nvSpPr>
        <p:spPr>
          <a:xfrm>
            <a:off x="4914721" y="3811098"/>
            <a:ext cx="3108960" cy="109728"/>
          </a:xfrm>
          <a:prstGeom prst="rect">
            <a:avLst/>
          </a:prstGeom>
          <a:noFill/>
          <a:ln/>
        </p:spPr>
        <p:txBody>
          <a:bodyPr wrap="square" rtlCol="0" anchor="ctr"/>
          <a:lstStyle/>
          <a:p>
            <a:pPr marL="0" indent="0">
              <a:buNone/>
            </a:pPr>
            <a:r>
              <a:rPr lang="en-US" sz="1400" b="1" dirty="0">
                <a:solidFill>
                  <a:srgbClr val="1A3A52"/>
                </a:solidFill>
                <a:latin typeface="Calibri" pitchFamily="34" charset="0"/>
                <a:ea typeface="Calibri" pitchFamily="34" charset="-122"/>
                <a:cs typeface="Calibri" pitchFamily="34" charset="-120"/>
              </a:rPr>
              <a:t>+7.35% over baseline</a:t>
            </a:r>
            <a:endParaRPr lang="en-US" sz="1400" dirty="0"/>
          </a:p>
        </p:txBody>
      </p:sp>
      <p:sp>
        <p:nvSpPr>
          <p:cNvPr id="34" name="Text 32"/>
          <p:cNvSpPr/>
          <p:nvPr/>
        </p:nvSpPr>
        <p:spPr>
          <a:xfrm>
            <a:off x="4937760" y="3520440"/>
            <a:ext cx="3291840" cy="777240"/>
          </a:xfrm>
          <a:prstGeom prst="rect">
            <a:avLst/>
          </a:prstGeom>
          <a:noFill/>
          <a:ln/>
        </p:spPr>
        <p:txBody>
          <a:bodyPr wrap="square" rtlCol="0" anchor="ctr"/>
          <a:lstStyle/>
          <a:p>
            <a:pPr marL="0" indent="0">
              <a:buNone/>
            </a:pPr>
            <a:endParaRPr lang="en-US" sz="11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1A3A52"/>
        </a:solidFill>
        <a:effectLst/>
      </p:bgPr>
    </p:bg>
    <p:spTree>
      <p:nvGrpSpPr>
        <p:cNvPr id="1" name=""/>
        <p:cNvGrpSpPr/>
        <p:nvPr/>
      </p:nvGrpSpPr>
      <p:grpSpPr>
        <a:xfrm>
          <a:off x="0" y="0"/>
          <a:ext cx="0" cy="0"/>
          <a:chOff x="0" y="0"/>
          <a:chExt cx="0" cy="0"/>
        </a:xfrm>
      </p:grpSpPr>
      <p:sp>
        <p:nvSpPr>
          <p:cNvPr id="2" name="Text 0"/>
          <p:cNvSpPr/>
          <p:nvPr/>
        </p:nvSpPr>
        <p:spPr>
          <a:xfrm>
            <a:off x="914400" y="1188720"/>
            <a:ext cx="7315200" cy="457200"/>
          </a:xfrm>
          <a:prstGeom prst="rect">
            <a:avLst/>
          </a:prstGeom>
          <a:noFill/>
          <a:ln/>
        </p:spPr>
        <p:txBody>
          <a:bodyPr wrap="square" rtlCol="0" anchor="ctr"/>
          <a:lstStyle/>
          <a:p>
            <a:pPr marL="0" indent="0" algn="ctr">
              <a:buNone/>
            </a:pPr>
            <a:r>
              <a:rPr lang="en-US" sz="4200" b="1" dirty="0">
                <a:solidFill>
                  <a:srgbClr val="FFFFFF"/>
                </a:solidFill>
                <a:latin typeface="Calibri" pitchFamily="34" charset="0"/>
                <a:ea typeface="Calibri" pitchFamily="34" charset="-122"/>
                <a:cs typeface="Calibri" pitchFamily="34" charset="-120"/>
              </a:rPr>
              <a:t>Conclusion</a:t>
            </a:r>
            <a:endParaRPr lang="en-US" sz="4200" dirty="0"/>
          </a:p>
        </p:txBody>
      </p:sp>
      <p:sp>
        <p:nvSpPr>
          <p:cNvPr id="3" name="Shape 1"/>
          <p:cNvSpPr/>
          <p:nvPr/>
        </p:nvSpPr>
        <p:spPr>
          <a:xfrm>
            <a:off x="3886200" y="1737360"/>
            <a:ext cx="1371600" cy="27432"/>
          </a:xfrm>
          <a:prstGeom prst="rect">
            <a:avLst/>
          </a:prstGeom>
          <a:solidFill>
            <a:srgbClr val="FFFFFF"/>
          </a:solidFill>
          <a:ln/>
        </p:spPr>
      </p:sp>
      <p:sp>
        <p:nvSpPr>
          <p:cNvPr id="4" name="Text 2"/>
          <p:cNvSpPr/>
          <p:nvPr/>
        </p:nvSpPr>
        <p:spPr>
          <a:xfrm>
            <a:off x="1371600" y="1965960"/>
            <a:ext cx="6400800" cy="27432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Successfully developed production-ready fraud detection system:</a:t>
            </a:r>
            <a:endParaRPr lang="en-US" sz="1600" dirty="0"/>
          </a:p>
        </p:txBody>
      </p:sp>
      <p:sp>
        <p:nvSpPr>
          <p:cNvPr id="5" name="Text 3"/>
          <p:cNvSpPr/>
          <p:nvPr/>
        </p:nvSpPr>
        <p:spPr>
          <a:xfrm>
            <a:off x="1554480" y="2331720"/>
            <a:ext cx="6035040" cy="256032"/>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  Achieved 90.62% ROC-AUC with comprehensive ML approach</a:t>
            </a:r>
            <a:endParaRPr lang="en-US" sz="1400" dirty="0"/>
          </a:p>
        </p:txBody>
      </p:sp>
      <p:sp>
        <p:nvSpPr>
          <p:cNvPr id="6" name="Text 4"/>
          <p:cNvSpPr/>
          <p:nvPr/>
        </p:nvSpPr>
        <p:spPr>
          <a:xfrm>
            <a:off x="1554480" y="2624328"/>
            <a:ext cx="6035040" cy="256032"/>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  11 engineered features enhanced predictive power significantly</a:t>
            </a:r>
            <a:endParaRPr lang="en-US" sz="1400" dirty="0"/>
          </a:p>
        </p:txBody>
      </p:sp>
      <p:sp>
        <p:nvSpPr>
          <p:cNvPr id="7" name="Text 5"/>
          <p:cNvSpPr/>
          <p:nvPr/>
        </p:nvSpPr>
        <p:spPr>
          <a:xfrm>
            <a:off x="1554480" y="2916936"/>
            <a:ext cx="6035040" cy="256032"/>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  SMOTE effectively addressed 96.5%/3.5% class imbalance</a:t>
            </a:r>
            <a:endParaRPr lang="en-US" sz="1400" dirty="0"/>
          </a:p>
        </p:txBody>
      </p:sp>
      <p:sp>
        <p:nvSpPr>
          <p:cNvPr id="8" name="Text 6"/>
          <p:cNvSpPr/>
          <p:nvPr/>
        </p:nvSpPr>
        <p:spPr>
          <a:xfrm>
            <a:off x="1554480" y="3209544"/>
            <a:ext cx="6035040" cy="256032"/>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  4 models evaluated with gradient boosting proving superior</a:t>
            </a:r>
            <a:endParaRPr lang="en-US" sz="1400" dirty="0"/>
          </a:p>
        </p:txBody>
      </p:sp>
      <p:sp>
        <p:nvSpPr>
          <p:cNvPr id="9" name="Text 7"/>
          <p:cNvSpPr/>
          <p:nvPr/>
        </p:nvSpPr>
        <p:spPr>
          <a:xfrm>
            <a:off x="1554480" y="3502152"/>
            <a:ext cx="6035040" cy="256032"/>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  SQL infrastructure with 10 reports enables ongoing monitoring</a:t>
            </a:r>
            <a:endParaRPr lang="en-US" sz="1400" dirty="0"/>
          </a:p>
        </p:txBody>
      </p:sp>
      <p:sp>
        <p:nvSpPr>
          <p:cNvPr id="10" name="Text 8"/>
          <p:cNvSpPr/>
          <p:nvPr/>
        </p:nvSpPr>
        <p:spPr>
          <a:xfrm>
            <a:off x="1554480" y="3794760"/>
            <a:ext cx="6035040" cy="256032"/>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  Production-ready system for real-world deployment at scale</a:t>
            </a:r>
            <a:endParaRPr lang="en-US" sz="14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1A3A52"/>
        </a:solidFill>
        <a:effectLst/>
      </p:bgPr>
    </p:bg>
    <p:spTree>
      <p:nvGrpSpPr>
        <p:cNvPr id="1" name=""/>
        <p:cNvGrpSpPr/>
        <p:nvPr/>
      </p:nvGrpSpPr>
      <p:grpSpPr>
        <a:xfrm>
          <a:off x="0" y="0"/>
          <a:ext cx="0" cy="0"/>
          <a:chOff x="0" y="0"/>
          <a:chExt cx="0" cy="0"/>
        </a:xfrm>
      </p:grpSpPr>
      <p:sp>
        <p:nvSpPr>
          <p:cNvPr id="2" name="Text 0"/>
          <p:cNvSpPr/>
          <p:nvPr/>
        </p:nvSpPr>
        <p:spPr>
          <a:xfrm>
            <a:off x="914400" y="1828800"/>
            <a:ext cx="7315200" cy="640080"/>
          </a:xfrm>
          <a:prstGeom prst="rect">
            <a:avLst/>
          </a:prstGeom>
          <a:noFill/>
          <a:ln/>
        </p:spPr>
        <p:txBody>
          <a:bodyPr wrap="square" rtlCol="0" anchor="ctr"/>
          <a:lstStyle/>
          <a:p>
            <a:pPr marL="0" indent="0" algn="ctr">
              <a:buNone/>
            </a:pPr>
            <a:r>
              <a:rPr lang="en-US" sz="5600" b="1" dirty="0">
                <a:solidFill>
                  <a:srgbClr val="FFFFFF"/>
                </a:solidFill>
                <a:latin typeface="Calibri" pitchFamily="34" charset="0"/>
                <a:ea typeface="Calibri" pitchFamily="34" charset="-122"/>
                <a:cs typeface="Calibri" pitchFamily="34" charset="-120"/>
              </a:rPr>
              <a:t>Thank You</a:t>
            </a:r>
            <a:endParaRPr lang="en-US" sz="5600" dirty="0"/>
          </a:p>
        </p:txBody>
      </p:sp>
      <p:sp>
        <p:nvSpPr>
          <p:cNvPr id="3" name="Text 1"/>
          <p:cNvSpPr/>
          <p:nvPr/>
        </p:nvSpPr>
        <p:spPr>
          <a:xfrm>
            <a:off x="914400" y="2560320"/>
            <a:ext cx="7315200" cy="365760"/>
          </a:xfrm>
          <a:prstGeom prst="rect">
            <a:avLst/>
          </a:prstGeom>
          <a:noFill/>
          <a:ln/>
        </p:spPr>
        <p:txBody>
          <a:bodyPr wrap="square" rtlCol="0" anchor="ctr"/>
          <a:lstStyle/>
          <a:p>
            <a:pPr marL="0" indent="0" algn="ctr">
              <a:buNone/>
            </a:pPr>
            <a:endParaRPr lang="en-US" sz="2400" dirty="0"/>
          </a:p>
        </p:txBody>
      </p:sp>
      <p:sp>
        <p:nvSpPr>
          <p:cNvPr id="4" name="Shape 2"/>
          <p:cNvSpPr/>
          <p:nvPr/>
        </p:nvSpPr>
        <p:spPr>
          <a:xfrm>
            <a:off x="3200400" y="3200400"/>
            <a:ext cx="2743200" cy="18288"/>
          </a:xfrm>
          <a:prstGeom prst="rect">
            <a:avLst/>
          </a:prstGeom>
          <a:solidFill>
            <a:srgbClr val="FFFFFF"/>
          </a:solidFill>
          <a:ln/>
        </p:spPr>
      </p:sp>
      <p:sp>
        <p:nvSpPr>
          <p:cNvPr id="5" name="Text 3"/>
          <p:cNvSpPr/>
          <p:nvPr/>
        </p:nvSpPr>
        <p:spPr>
          <a:xfrm>
            <a:off x="914400" y="3429000"/>
            <a:ext cx="7315200" cy="2743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Jay </a:t>
            </a:r>
            <a:r>
              <a:rPr lang="en-US" sz="1800" b="1" dirty="0" err="1" smtClean="0">
                <a:solidFill>
                  <a:srgbClr val="FFFFFF"/>
                </a:solidFill>
                <a:latin typeface="Calibri" pitchFamily="34" charset="0"/>
                <a:ea typeface="Calibri" pitchFamily="34" charset="-122"/>
                <a:cs typeface="Calibri" pitchFamily="34" charset="-120"/>
              </a:rPr>
              <a:t>Bhuva</a:t>
            </a:r>
            <a:r>
              <a:rPr lang="en-US" sz="1800" b="1" dirty="0" smtClean="0">
                <a:solidFill>
                  <a:srgbClr val="FFFFFF"/>
                </a:solidFill>
                <a:latin typeface="Calibri" pitchFamily="34" charset="0"/>
                <a:ea typeface="Calibri" pitchFamily="34" charset="-122"/>
                <a:cs typeface="Calibri" pitchFamily="34" charset="-120"/>
              </a:rPr>
              <a:t> and </a:t>
            </a:r>
            <a:r>
              <a:rPr lang="en-US" sz="1800" b="1" dirty="0" err="1" smtClean="0">
                <a:solidFill>
                  <a:srgbClr val="FFFFFF"/>
                </a:solidFill>
                <a:latin typeface="Calibri" pitchFamily="34" charset="0"/>
                <a:ea typeface="Calibri" pitchFamily="34" charset="-122"/>
                <a:cs typeface="Calibri" pitchFamily="34" charset="-120"/>
              </a:rPr>
              <a:t>Prajakta</a:t>
            </a:r>
            <a:r>
              <a:rPr lang="en-US" sz="1800" b="1" dirty="0" smtClean="0">
                <a:solidFill>
                  <a:srgbClr val="FFFFFF"/>
                </a:solidFill>
                <a:latin typeface="Calibri" pitchFamily="34" charset="0"/>
                <a:ea typeface="Calibri" pitchFamily="34" charset="-122"/>
                <a:cs typeface="Calibri" pitchFamily="34" charset="-120"/>
              </a:rPr>
              <a:t> </a:t>
            </a:r>
            <a:r>
              <a:rPr lang="en-US" sz="1800" b="1" dirty="0">
                <a:solidFill>
                  <a:srgbClr val="FFFFFF"/>
                </a:solidFill>
                <a:latin typeface="Calibri" pitchFamily="34" charset="0"/>
                <a:ea typeface="Calibri" pitchFamily="34" charset="-122"/>
                <a:cs typeface="Calibri" pitchFamily="34" charset="-120"/>
              </a:rPr>
              <a:t>Avachat</a:t>
            </a:r>
            <a:endParaRPr lang="en-US" sz="1800" dirty="0"/>
          </a:p>
        </p:txBody>
      </p:sp>
      <p:sp>
        <p:nvSpPr>
          <p:cNvPr id="6" name="Text 4"/>
          <p:cNvSpPr/>
          <p:nvPr/>
        </p:nvSpPr>
        <p:spPr>
          <a:xfrm>
            <a:off x="914400" y="3703320"/>
            <a:ext cx="7315200" cy="274320"/>
          </a:xfrm>
          <a:prstGeom prst="rect">
            <a:avLst/>
          </a:prstGeom>
          <a:noFill/>
          <a:ln/>
        </p:spPr>
        <p:txBody>
          <a:bodyPr wrap="square" rtlCol="0" anchor="ctr"/>
          <a:lstStyle/>
          <a:p>
            <a:pPr marL="0" indent="0" algn="ctr">
              <a:buNone/>
            </a:pPr>
            <a:endParaRPr lang="en-US" sz="15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1227</Words>
  <Application>Microsoft Office PowerPoint</Application>
  <PresentationFormat>On-screen Show (16:9)</PresentationFormat>
  <Paragraphs>234</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IEEE-CIS Fraud Detection</dc:title>
  <dc:subject>PptxGenJS Presentation</dc:subject>
  <dc:creator>Jay Bhuva &amp; Prajakta Avachat</dc:creator>
  <cp:lastModifiedBy>Admin</cp:lastModifiedBy>
  <cp:revision>4</cp:revision>
  <dcterms:created xsi:type="dcterms:W3CDTF">2025-11-27T20:42:02Z</dcterms:created>
  <dcterms:modified xsi:type="dcterms:W3CDTF">2025-12-01T02:39:11Z</dcterms:modified>
</cp:coreProperties>
</file>